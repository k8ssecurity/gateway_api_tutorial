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deep dive into Kubernetes Gateway API.
Today we'll cover:
- What Gateway API is and why it was created
- The architecture and core resources
- Key features and benefits
- How it compares to traditional Ingress
- The vendor landscape
- How it integrates with external load balancers
This is a 35-minute session with 10 minutes for Q&amp;A at the end.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briefly.
We have about 35 minutes of content, then 10 minutes for Q&amp;A.
The presentation is structured to take you from understanding "what and why" to practical implementation considerations.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 API is an official Kubernetes project from SIG-Network.
Key points to emphasize:
- It's NOT built into Kubernetes natively - you need to install CRDs and a controller
- It's the official successor to Ingress
- Version 1.4.0 went GA in October 2025 - it's production ready
Think of it as the "next generation" service networking layer for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pain points of Ingress on the left and how Gateway API solves them on the right.
KEY POINTS:
1. ANNOTATION CHAOS: With Ingress, every vendor (NGINX, Traefik, HAProxy) has their own annotations. Moving between vendors means rewriting configs.
2. LIMITED EXPRESSIVENESS: Want header-based routing? Traffic splitting? You need vendor-specific annotations that aren't portable.
3. NO ROLE SEPARATION: The Ingress resource is a single object. In large organizations, who owns it? Infrastructure? DevOps? Developers? It creates conflicts.
4. HTTP ONLY: Ingress was designed for HTTP. TCP, UDP, and gRPC are afterthoughts.
Gateway API addresses ALL of these with a clean, role-based, extensible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pillars of Gateway API design:
1. ROLE-ORIENTED: Different people manage different parts
   - Infrastructure team: GatewayClass
   - Platform team: Gateway
   - App developers: Routes
2. PORTABLE: Write once, run anywhere. The same Gateway API config works on Istio, Envoy Gateway, Cilium, or cloud providers.
3. EXPRESSIVE: No more annotation hacks. Features like traffic splitting, header matching are first-class citizens.
4. EXTENSIBLE: Want custom functionality? You can extend at multiple points without breaking the core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concepts to understand.
THREE ROLES:
1. INFRASTRUCTURE PROVIDER (Platform/SRE team):
   - Manages GatewayClass
   - Deploys and configures the controller
   - Sets cluster-wide policies
2. CLUSTER OPERATOR (DevOps/Platform team):
   - Creates Gateway instances
   - Defines listeners (ports, protocols)
   - Controls which namespaces can use the Gateway
3. APPLICATION DEVELOPER:
   - Creates Routes (HTTPRoute, GRPCRoute, TCPRoute)
   - Only needs to know about their application
   - Doesn't touch infrastructure
BENEFIT: In a multi-tenant cluster, developers can't accidentally break each other's routes because they only control their own Routes, not the Gateway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each core resource:
GATEWAYCLASS:
- Think of it like StorageClass for networking
- Defines which controller handles this type of Gateway
- Usually one per controller type in your cluster
GATEWAY:
- The actual "load balancer" or "proxy" instance
- Defines listeners (port 80, 443, etc.)
- Can allow routes from specific namespaces
HTTPROUTE:
- Where the magic happens
- Matches on paths, headers, query params
- Forwards to backend Services
GRPCROUTE:
- Specifically for gRPC traffic
- Can match on service and method names
- Requires HTTP/2 support
TCPROUTE/UDPROUTE:
- Still experimental
- For non-HTTP workloads like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GatewayClass is the cluster-wide resource that identifies:
- Which controller handles this type of Gateway
- Optional vendor-specific parameters
The controllerName is key - it's how the Gateway knows which controller should provision it.
ANALOGY:
Think of GatewayClass like StorageClass. StorageClass tells Kubernetes "use AWS EBS" or "use local storage". GatewayClass tells Kubernetes "use Istio" or "use Envoy Gateway".
Typically you'll have ONE GatewayClass per controller in your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resource is where you define your entry points.
KEY POINTS:
LISTENERS:
- Each listener is a port + protocol combination
- You can have multiple listeners (80, 443, 8080, etc.)
- Hostname can be specific or wildcard
ALLOWED ROUTES:
- This is the multi-tenancy control
- "from: Same" - only routes in same namespace
- "from: All" - any namespace can attach
- "from: Selector" - use labels to control access
SECURITY MODEL:
The Gateway is "bidirectional trust":
1. Gateway must allow routes from a namespace
2. Route must reference the Gateway
Both sides must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HTTPRoute is where developers spend most of their time.
KEY FEATURES:
PARENT REFS:
- References the Gateway this route attaches to
- Can attach to multiple Gateways
MATCHING:
- Path: Exact, PathPrefix, or RegularExpression
- Headers: Exact or RegularExpression
- Query params: Exact or RegularExpression
BACKENDS:
- Can have multiple backends with weights
- This gives you NATIVE canary deployments!
- In the example: 90% to stable, 10% to canary
NO ANNOTATIONS:
In Ingress, you'd need something like:
  nginx.ingress.kubernetes.io/canary-weight: "10"
With Gateway API, it's just "weight: 10" in the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a request through the system:
1. CLIENT: User or service makes an HTTP request
2. DNS: The hostname resolves to the Gateway's external IP
   - In cloud: This is often a cloud load balancer IP
   - On-prem: MetalLB or similar gives you an IP
3. GATEWAY LISTENER: The proxy (Envoy, NGINX, etc.) receives the request
   - Matches the hostname pattern
   - May terminate TLS here
4. ROUTE EVALUATION: The routing rules are checked
   - Path matches?
   - Headers match?
   - Which backend should receive this?
5. BACKEND: Request is proxied to the Service
   - Headers may be added/removed
   - Path may be rewritten
This is the "north-south" traffic flow - external traffic entering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feature categories:
ADVANCED ROUTING:
- Match on ANY HTTP attribute
- Rewrite paths before forwarding
- Regex patterns for flexible matching
TRAFFIC MANAGEMENT:
- Split traffic between versions
- Mirror requests for testing
- Gradual rollouts built-in
SECURITY:
- TLS is a first-class citizen
- Support for cert-manager integration
- Namespace isolation by default
- Some implementations add mTLS
EXTENSIBILITY:
- Vendor-specific extensions without breaking core API
- Policy attachment points
- Custom filters
The key message: features that required annotations in Ingress are now 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comparison slide.
ARCHITECTURE:
- Ingress: One resource type does everything
- Gateway: Split by role (GatewayClass, Gateway, Routes)
PROTOCOLS:
- Ingress was built for HTTP only
- Gateway supports L4 and L7
ADVANCED FEATURES:
- In Ingress, want traffic splitting? nginx.ingress.kubernetes.io/canary-weight
- In Gateway API: backendRefs with weight
MULTI-TENANCY:
- Ingress: Multiple teams editing same resource = conflicts
- Gateway: Routes are separate, Gateway controls access
CRITICAL: NGINX Ingress Controller is being retired March 2026!
This means no more security patches. Time to migrate.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main architectural approaches:
ENVOY-NATIVE:
- Envoy Gateway, Istio, Contour
- Use Envoy as the data plane
- Excellent L7 features
- Best for service mesh integration
- Companies like Signal AI, Zapier use Envoy Gateway
eBPF/KERNEL:
- Cilium is the leader here
- DigitalOcean uses Cilium for their managed offering
- Bypasses kernel networking stack
- Best raw performance for L4 traffic
- Requires Linux kernel 4.19+
TRADITIONAL PROXY:
- NGINX, Kong, Traefik, HAProxy
- Familiar technology
- Watch out: Kong has significant OSS vs Enterprise gaps
CLOUD MANAGED:
- GKE: Provisions Google Cloud Load Balancers
- AWS: Integrates with VPC Lattice
- Azure: Application Gateway for Containers
My recommendation: Start with Envoy Gateway if you need L7, Cilium for pure L4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Gateway API integrates with external load balancers:
CLOUD PROVIDERS:
When you create a Gateway on GKE, AWS, or Azure:
1. The controller sees the Gateway resource
2. It automatically provisions a cloud load balancer
3. The LB gets an external IP
4. Traffic flows: Internet → Cloud LB → Gateway pods → Your services
Example on GKE:
- GatewayClass "gke-l7-rilb" = Internal HTTP(S) Load Balancer
- GatewayClass "gke-l7-gxlb" = Global External HTTP(S) Load Balancer
ON-PREMISES:
You need something to give you an external IP:
- MetalLB is the most common choice
- Or use an existing F5/HAProxy/hardware LB
The Gateway controller creates a Service type LoadBalancer, and MetalLB assigns an IP from your pool.
KEY INSIGHT: The GatewayClass determines what infrastructure gets provisioned. Different GatewayClasses can provision different types of load balancers!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cloud provider examples:
GOOGLE GKE:
- Multiple GatewayClasses available:
  - gke-l7-global-external-managed (Global HTTPS LB)
  - gke-l7-regional-external-managed (Regional LB)
  - gke-l7-rilb (Internal LB)
- Creates actual Google Cloud resources
- Supports multi-cluster load balancing!
AWS EKS:
- Two options:
  - AWS Load Balancer Controller (ALB/NLB)
  - VPC Lattice (service-to-service)
- VPC Lattice is particularly interesting for cross-account traffic
BENEFITS:
- You write Gateway API YAML
- Cloud controller provisions cloud resources
- Native integration with cloud features (CDN, WAF, etc.)
PRO TIP: On GKE, you can have a single Gateway that load balances across multiple GKE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questions you'll get:
Q: SHOULD I MIGRATE NOW?
A: Yes, definitely start planning. NGINX Ingress EOL is March 2026. Gateway API is GA and production-ready.
Q: WHICH IMPLEMENTATION?
A: Depends on your needs:
- Pure performance → Cilium
- Feature-rich L7 → Envoy Gateway
- Already using Istio → Use Istio's Gateway API support
- Want managed → Cloud provider options
Q: CAN I RUN BOTH?
A: Absolutely. They use different CRDs. Common pattern: Gateway API for new, Ingress for legacy.
Q: HOW MATURE?
A: Very mature for HTTP/HTTPS. The core API hit GA in October 2023. TCPRoute and UDPRoute are still experimental.
Q: SERVICE MESH?
A: Gateway API handles "north-south" (external traffic entering cluster). Service mesh handles "east-west" (service-to-service). They complement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guide:
STEP 1 - AUDIT:
- List all Ingress resources: kubectl get ingress -A
- Note which annotations you're using
- Identify any vendor-specific features
STEP 2 - CHOOSE:
- Match your current stack (using Envoy? → Envoy Gateway)
- Consider cloud provider options if applicable
STEP 3 - PARALLEL:
- Both can run simultaneously
- Different CRDs, no conflict
STEP 4 - CONVERT:
- ingress2gateway tool helps automate
- Manual review still needed for annotations
STEP 5 - TEST:
- Verify TLS works
- Check path matching behaves the same
- Test header-based routing if used
STEP 6 - SHIFT:
- Use DNS weights or traffic splitting
- Start with 10%, increase gradually
TOOLS:
The official migration guide has conversion tools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key points:
1. MIGRATION IS COMING
   - Ingress NGINX EOL March 2026
   - Gateway API is the official path forward
2. BETTER DESIGN
   - Role separation prevents conflicts
   - Multi-tenant friendly
   - Clear ownership model
3. NATIVE FEATURES
   - No more annotation chaos
   - Traffic splitting, header routing built-in
   - Portable configurations
4. FLEXIBILITY
   - Multiple implementations to choose from
   - Cloud-managed or self-hosted
   - Can run alongside Ingress during migration
5. MATURITY
   - GA since October 2023
   - v1.4.0 current
   - Active community
ACTION: Start with new services, plan migration for existing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TIME!
Common questions to prepare for:
1. "How does this compare to Traefik/Kong/HAProxy?"
   → They all support Gateway API now. The API is standard, implementations differ in features and performance.
2. "What about service mesh like Istio?"
   → Istio fully supports Gateway API. Use Gateway for ingress, Istio for service-to-service.
3. "Is it hard to learn?"
   → If you know Ingress, the concepts are familiar. Main difference is resource separation.
4. "What if my vendor doesn't support it?"
   → All major vendors support it now. Check gateway-api.sigs.k8s.io/implementations.
5. "How do I debug routing issues?"
   → Gateway and Route resources have status conditions. Use kubectl describe.
RESOURCES to share:
- Official docs: gateway-api.sigs.k8s.io
- Implementations list
- Migration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pic>
        <p:nvPicPr>
          <p:cNvPr id="3" name="Image 0" descr="preencoded.png">    </p:cNvPr>
          <p:cNvPicPr>
            <a:picLocks noChangeAspect="1"/>
          </p:cNvPicPr>
          <p:nvPr/>
        </p:nvPicPr>
        <p:blipFill>
          <a:blip r:embed="rId1"/>
          <a:stretch>
            <a:fillRect/>
          </a:stretch>
        </p:blipFill>
        <p:spPr>
          <a:xfrm>
            <a:off x="3886200" y="914400"/>
            <a:ext cx="1371600" cy="1371600"/>
          </a:xfrm>
          <a:prstGeom prst="rect">
            <a:avLst/>
          </a:prstGeom>
        </p:spPr>
      </p:pic>
      <p:sp>
        <p:nvSpPr>
          <p:cNvPr id="4" name="Text 1"/>
          <p:cNvSpPr/>
          <p:nvPr/>
        </p:nvSpPr>
        <p:spPr>
          <a:xfrm>
            <a:off x="457200" y="2377440"/>
            <a:ext cx="8229600" cy="822960"/>
          </a:xfrm>
          <a:prstGeom prst="rect">
            <a:avLst/>
          </a:prstGeom>
          <a:noFill/>
          <a:ln/>
        </p:spPr>
        <p:txBody>
          <a:bodyPr wrap="square" lIns="0" tIns="0" rIns="0" bIns="0" rtlCol="0" anchor="ctr"/>
          <a:lstStyle/>
          <a:p>
            <a:pPr algn="ctr" indent="0" marL="0">
              <a:buNone/>
            </a:pPr>
            <a:r>
              <a:rPr lang="en-US" sz="4400" b="1" dirty="0">
                <a:solidFill>
                  <a:srgbClr val="F8FAFC"/>
                </a:solidFill>
                <a:latin typeface="Arial Black" pitchFamily="34" charset="0"/>
                <a:ea typeface="Arial Black" pitchFamily="34" charset="-122"/>
                <a:cs typeface="Arial Black" pitchFamily="34" charset="-120"/>
              </a:rPr>
              <a:t>Kubernetes Gateway API</a:t>
            </a:r>
            <a:endParaRPr lang="en-US" sz="4400" dirty="0"/>
          </a:p>
        </p:txBody>
      </p:sp>
      <p:sp>
        <p:nvSpPr>
          <p:cNvPr id="5" name="Text 2"/>
          <p:cNvSpPr/>
          <p:nvPr/>
        </p:nvSpPr>
        <p:spPr>
          <a:xfrm>
            <a:off x="457200" y="3200400"/>
            <a:ext cx="8229600" cy="457200"/>
          </a:xfrm>
          <a:prstGeom prst="rect">
            <a:avLst/>
          </a:prstGeom>
          <a:noFill/>
          <a:ln/>
        </p:spPr>
        <p:txBody>
          <a:bodyPr wrap="square" lIns="0" tIns="0" rIns="0" bIns="0" rtlCol="0" anchor="ctr"/>
          <a:lstStyle/>
          <a:p>
            <a:pPr algn="ctr" indent="0" marL="0">
              <a:buNone/>
            </a:pPr>
            <a:r>
              <a:rPr lang="en-US" sz="2200" dirty="0">
                <a:solidFill>
                  <a:srgbClr val="38BDF8"/>
                </a:solidFill>
                <a:latin typeface="Arial" pitchFamily="34" charset="0"/>
                <a:ea typeface="Arial" pitchFamily="34" charset="-122"/>
                <a:cs typeface="Arial" pitchFamily="34" charset="-120"/>
              </a:rPr>
              <a:t>The Next Generation of Kubernetes Traffic Management</a:t>
            </a:r>
            <a:endParaRPr lang="en-US" sz="2200" dirty="0"/>
          </a:p>
        </p:txBody>
      </p:sp>
      <p:sp>
        <p:nvSpPr>
          <p:cNvPr id="6" name="Text 3"/>
          <p:cNvSpPr/>
          <p:nvPr/>
        </p:nvSpPr>
        <p:spPr>
          <a:xfrm>
            <a:off x="457200" y="4114800"/>
            <a:ext cx="8229600" cy="365760"/>
          </a:xfrm>
          <a:prstGeom prst="rect">
            <a:avLst/>
          </a:prstGeom>
          <a:noFill/>
          <a:ln/>
        </p:spPr>
        <p:txBody>
          <a:bodyPr wrap="square" lIns="0" tIns="0" rIns="0" bIns="0"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Philippe Bogaerts</a:t>
            </a:r>
            <a:endParaRPr lang="en-US" sz="1800" dirty="0"/>
          </a:p>
        </p:txBody>
      </p:sp>
      <p:sp>
        <p:nvSpPr>
          <p:cNvPr id="7" name="Text 4"/>
          <p:cNvSpPr/>
          <p:nvPr/>
        </p:nvSpPr>
        <p:spPr>
          <a:xfrm>
            <a:off x="457200" y="4480560"/>
            <a:ext cx="8229600" cy="27432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January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8229600" cy="640080"/>
          </a:xfrm>
          <a:prstGeom prst="rect">
            <a:avLst/>
          </a:prstGeom>
          <a:noFill/>
          <a:ln/>
        </p:spPr>
        <p:txBody>
          <a:bodyPr wrap="square" lIns="0" tIns="0" rIns="0" bIns="0" rtlCol="0" anchor="ctr"/>
          <a:lstStyle/>
          <a:p>
            <a:pPr indent="0" marL="0">
              <a:buNone/>
            </a:pPr>
            <a:r>
              <a:rPr lang="en-US" sz="3600" dirty="0">
                <a:solidFill>
                  <a:srgbClr val="1E293B"/>
                </a:solidFill>
                <a:latin typeface="Arial Black" pitchFamily="34" charset="0"/>
                <a:ea typeface="Arial Black" pitchFamily="34" charset="-122"/>
                <a:cs typeface="Arial Black" pitchFamily="34" charset="-120"/>
              </a:rPr>
              <a:t>Agenda</a:t>
            </a:r>
            <a:endParaRPr lang="en-US" sz="3600" dirty="0"/>
          </a:p>
        </p:txBody>
      </p:sp>
      <p:pic>
        <p:nvPicPr>
          <p:cNvPr id="4" name="Image 0" descr="preencoded.png">    </p:cNvPr>
          <p:cNvPicPr>
            <a:picLocks noChangeAspect="1"/>
          </p:cNvPicPr>
          <p:nvPr/>
        </p:nvPicPr>
        <p:blipFill>
          <a:blip r:embed="rId1"/>
          <a:stretch>
            <a:fillRect/>
          </a:stretch>
        </p:blipFill>
        <p:spPr>
          <a:xfrm>
            <a:off x="640080" y="1188720"/>
            <a:ext cx="320040" cy="320040"/>
          </a:xfrm>
          <a:prstGeom prst="rect">
            <a:avLst/>
          </a:prstGeom>
        </p:spPr>
      </p:pic>
      <p:sp>
        <p:nvSpPr>
          <p:cNvPr id="5" name="Text 2"/>
          <p:cNvSpPr/>
          <p:nvPr/>
        </p:nvSpPr>
        <p:spPr>
          <a:xfrm>
            <a:off x="1097280" y="1097280"/>
            <a:ext cx="1097280" cy="45720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5 min</a:t>
            </a:r>
            <a:endParaRPr lang="en-US" sz="1400" dirty="0"/>
          </a:p>
        </p:txBody>
      </p:sp>
      <p:sp>
        <p:nvSpPr>
          <p:cNvPr id="6" name="Text 3"/>
          <p:cNvSpPr/>
          <p:nvPr/>
        </p:nvSpPr>
        <p:spPr>
          <a:xfrm>
            <a:off x="2194560" y="1097280"/>
            <a:ext cx="5486400" cy="4572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What is Gateway API &amp; Why</a:t>
            </a:r>
            <a:endParaRPr lang="en-US" sz="1600" dirty="0"/>
          </a:p>
        </p:txBody>
      </p:sp>
      <p:pic>
        <p:nvPicPr>
          <p:cNvPr id="7" name="Image 1" descr="preencoded.png">    </p:cNvPr>
          <p:cNvPicPr>
            <a:picLocks noChangeAspect="1"/>
          </p:cNvPicPr>
          <p:nvPr/>
        </p:nvPicPr>
        <p:blipFill>
          <a:blip r:embed="rId2"/>
          <a:stretch>
            <a:fillRect/>
          </a:stretch>
        </p:blipFill>
        <p:spPr>
          <a:xfrm>
            <a:off x="640080" y="1691640"/>
            <a:ext cx="320040" cy="320040"/>
          </a:xfrm>
          <a:prstGeom prst="rect">
            <a:avLst/>
          </a:prstGeom>
        </p:spPr>
      </p:pic>
      <p:sp>
        <p:nvSpPr>
          <p:cNvPr id="8" name="Text 4"/>
          <p:cNvSpPr/>
          <p:nvPr/>
        </p:nvSpPr>
        <p:spPr>
          <a:xfrm>
            <a:off x="1097280" y="1600200"/>
            <a:ext cx="1097280" cy="45720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8 min</a:t>
            </a:r>
            <a:endParaRPr lang="en-US" sz="1400" dirty="0"/>
          </a:p>
        </p:txBody>
      </p:sp>
      <p:sp>
        <p:nvSpPr>
          <p:cNvPr id="9" name="Text 5"/>
          <p:cNvSpPr/>
          <p:nvPr/>
        </p:nvSpPr>
        <p:spPr>
          <a:xfrm>
            <a:off x="2194560" y="1600200"/>
            <a:ext cx="5486400" cy="4572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Architecture &amp; Core Resources</a:t>
            </a:r>
            <a:endParaRPr lang="en-US" sz="1600" dirty="0"/>
          </a:p>
        </p:txBody>
      </p:sp>
      <p:pic>
        <p:nvPicPr>
          <p:cNvPr id="10" name="Image 2" descr="preencoded.png">    </p:cNvPr>
          <p:cNvPicPr>
            <a:picLocks noChangeAspect="1"/>
          </p:cNvPicPr>
          <p:nvPr/>
        </p:nvPicPr>
        <p:blipFill>
          <a:blip r:embed="rId3"/>
          <a:stretch>
            <a:fillRect/>
          </a:stretch>
        </p:blipFill>
        <p:spPr>
          <a:xfrm>
            <a:off x="640080" y="2194560"/>
            <a:ext cx="320040" cy="320040"/>
          </a:xfrm>
          <a:prstGeom prst="rect">
            <a:avLst/>
          </a:prstGeom>
        </p:spPr>
      </p:pic>
      <p:sp>
        <p:nvSpPr>
          <p:cNvPr id="11" name="Text 6"/>
          <p:cNvSpPr/>
          <p:nvPr/>
        </p:nvSpPr>
        <p:spPr>
          <a:xfrm>
            <a:off x="1097280" y="2103120"/>
            <a:ext cx="1097280" cy="45720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6 min</a:t>
            </a:r>
            <a:endParaRPr lang="en-US" sz="1400" dirty="0"/>
          </a:p>
        </p:txBody>
      </p:sp>
      <p:sp>
        <p:nvSpPr>
          <p:cNvPr id="12" name="Text 7"/>
          <p:cNvSpPr/>
          <p:nvPr/>
        </p:nvSpPr>
        <p:spPr>
          <a:xfrm>
            <a:off x="2194560" y="2103120"/>
            <a:ext cx="5486400" cy="4572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Key Features</a:t>
            </a:r>
            <a:endParaRPr lang="en-US" sz="1600" dirty="0"/>
          </a:p>
        </p:txBody>
      </p:sp>
      <p:pic>
        <p:nvPicPr>
          <p:cNvPr id="13" name="Image 3" descr="preencoded.png">    </p:cNvPr>
          <p:cNvPicPr>
            <a:picLocks noChangeAspect="1"/>
          </p:cNvPicPr>
          <p:nvPr/>
        </p:nvPicPr>
        <p:blipFill>
          <a:blip r:embed="rId4"/>
          <a:stretch>
            <a:fillRect/>
          </a:stretch>
        </p:blipFill>
        <p:spPr>
          <a:xfrm>
            <a:off x="640080" y="2697480"/>
            <a:ext cx="320040" cy="320040"/>
          </a:xfrm>
          <a:prstGeom prst="rect">
            <a:avLst/>
          </a:prstGeom>
        </p:spPr>
      </p:pic>
      <p:sp>
        <p:nvSpPr>
          <p:cNvPr id="14" name="Text 8"/>
          <p:cNvSpPr/>
          <p:nvPr/>
        </p:nvSpPr>
        <p:spPr>
          <a:xfrm>
            <a:off x="1097280" y="2606040"/>
            <a:ext cx="1097280" cy="45720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5 min</a:t>
            </a:r>
            <a:endParaRPr lang="en-US" sz="1400" dirty="0"/>
          </a:p>
        </p:txBody>
      </p:sp>
      <p:sp>
        <p:nvSpPr>
          <p:cNvPr id="15" name="Text 9"/>
          <p:cNvSpPr/>
          <p:nvPr/>
        </p:nvSpPr>
        <p:spPr>
          <a:xfrm>
            <a:off x="2194560" y="2606040"/>
            <a:ext cx="5486400" cy="4572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Gateway API vs Ingress</a:t>
            </a:r>
            <a:endParaRPr lang="en-US" sz="1600" dirty="0"/>
          </a:p>
        </p:txBody>
      </p:sp>
      <p:pic>
        <p:nvPicPr>
          <p:cNvPr id="16" name="Image 4" descr="preencoded.png">    </p:cNvPr>
          <p:cNvPicPr>
            <a:picLocks noChangeAspect="1"/>
          </p:cNvPicPr>
          <p:nvPr/>
        </p:nvPicPr>
        <p:blipFill>
          <a:blip r:embed="rId5"/>
          <a:stretch>
            <a:fillRect/>
          </a:stretch>
        </p:blipFill>
        <p:spPr>
          <a:xfrm>
            <a:off x="640080" y="3200400"/>
            <a:ext cx="320040" cy="320040"/>
          </a:xfrm>
          <a:prstGeom prst="rect">
            <a:avLst/>
          </a:prstGeom>
        </p:spPr>
      </p:pic>
      <p:sp>
        <p:nvSpPr>
          <p:cNvPr id="17" name="Text 10"/>
          <p:cNvSpPr/>
          <p:nvPr/>
        </p:nvSpPr>
        <p:spPr>
          <a:xfrm>
            <a:off x="1097280" y="3108960"/>
            <a:ext cx="1097280" cy="45720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6 min</a:t>
            </a:r>
            <a:endParaRPr lang="en-US" sz="1400" dirty="0"/>
          </a:p>
        </p:txBody>
      </p:sp>
      <p:sp>
        <p:nvSpPr>
          <p:cNvPr id="18" name="Text 11"/>
          <p:cNvSpPr/>
          <p:nvPr/>
        </p:nvSpPr>
        <p:spPr>
          <a:xfrm>
            <a:off x="2194560" y="3108960"/>
            <a:ext cx="5486400" cy="4572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Vendor Landscape</a:t>
            </a:r>
            <a:endParaRPr lang="en-US" sz="1600" dirty="0"/>
          </a:p>
        </p:txBody>
      </p:sp>
      <p:pic>
        <p:nvPicPr>
          <p:cNvPr id="19" name="Image 5" descr="preencoded.png">    </p:cNvPr>
          <p:cNvPicPr>
            <a:picLocks noChangeAspect="1"/>
          </p:cNvPicPr>
          <p:nvPr/>
        </p:nvPicPr>
        <p:blipFill>
          <a:blip r:embed="rId6"/>
          <a:stretch>
            <a:fillRect/>
          </a:stretch>
        </p:blipFill>
        <p:spPr>
          <a:xfrm>
            <a:off x="640080" y="3703320"/>
            <a:ext cx="320040" cy="320040"/>
          </a:xfrm>
          <a:prstGeom prst="rect">
            <a:avLst/>
          </a:prstGeom>
        </p:spPr>
      </p:pic>
      <p:sp>
        <p:nvSpPr>
          <p:cNvPr id="20" name="Text 12"/>
          <p:cNvSpPr/>
          <p:nvPr/>
        </p:nvSpPr>
        <p:spPr>
          <a:xfrm>
            <a:off x="1097280" y="3611880"/>
            <a:ext cx="1097280" cy="45720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5 min</a:t>
            </a:r>
            <a:endParaRPr lang="en-US" sz="1400" dirty="0"/>
          </a:p>
        </p:txBody>
      </p:sp>
      <p:sp>
        <p:nvSpPr>
          <p:cNvPr id="21" name="Text 13"/>
          <p:cNvSpPr/>
          <p:nvPr/>
        </p:nvSpPr>
        <p:spPr>
          <a:xfrm>
            <a:off x="2194560" y="3611880"/>
            <a:ext cx="5486400" cy="4572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External Load Balancer Integration</a:t>
            </a:r>
            <a:endParaRPr lang="en-US" sz="1600" dirty="0"/>
          </a:p>
        </p:txBody>
      </p:sp>
      <p:pic>
        <p:nvPicPr>
          <p:cNvPr id="22" name="Image 6" descr="preencoded.png">    </p:cNvPr>
          <p:cNvPicPr>
            <a:picLocks noChangeAspect="1"/>
          </p:cNvPicPr>
          <p:nvPr/>
        </p:nvPicPr>
        <p:blipFill>
          <a:blip r:embed="rId7"/>
          <a:stretch>
            <a:fillRect/>
          </a:stretch>
        </p:blipFill>
        <p:spPr>
          <a:xfrm>
            <a:off x="640080" y="4206240"/>
            <a:ext cx="320040" cy="320040"/>
          </a:xfrm>
          <a:prstGeom prst="rect">
            <a:avLst/>
          </a:prstGeom>
        </p:spPr>
      </p:pic>
      <p:sp>
        <p:nvSpPr>
          <p:cNvPr id="23" name="Text 14"/>
          <p:cNvSpPr/>
          <p:nvPr/>
        </p:nvSpPr>
        <p:spPr>
          <a:xfrm>
            <a:off x="1097280" y="4114800"/>
            <a:ext cx="1097280" cy="45720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10 min</a:t>
            </a:r>
            <a:endParaRPr lang="en-US" sz="1400" dirty="0"/>
          </a:p>
        </p:txBody>
      </p:sp>
      <p:sp>
        <p:nvSpPr>
          <p:cNvPr id="24" name="Text 15"/>
          <p:cNvSpPr/>
          <p:nvPr/>
        </p:nvSpPr>
        <p:spPr>
          <a:xfrm>
            <a:off x="2194560" y="4114800"/>
            <a:ext cx="5486400" cy="457200"/>
          </a:xfrm>
          <a:prstGeom prst="rect">
            <a:avLst/>
          </a:prstGeom>
          <a:noFill/>
          <a:ln/>
        </p:spPr>
        <p:txBody>
          <a:bodyPr wrap="square" lIns="0" tIns="0" rIns="0" bIns="0" rtlCol="0" anchor="ctr"/>
          <a:lstStyle/>
          <a:p>
            <a:pPr indent="0" marL="0">
              <a:buNone/>
            </a:pPr>
            <a:r>
              <a:rPr lang="en-US" sz="1600" dirty="0">
                <a:solidFill>
                  <a:srgbClr val="1E293B"/>
                </a:solidFill>
                <a:latin typeface="Arial" pitchFamily="34" charset="0"/>
                <a:ea typeface="Arial" pitchFamily="34" charset="-122"/>
                <a:cs typeface="Arial" pitchFamily="34" charset="-120"/>
              </a:rPr>
              <a:t>Q&amp;A Session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What is Gateway API?</a:t>
            </a:r>
            <a:endParaRPr lang="en-US" sz="3200" dirty="0"/>
          </a:p>
        </p:txBody>
      </p:sp>
      <p:sp>
        <p:nvSpPr>
          <p:cNvPr id="4" name="Shape 2"/>
          <p:cNvSpPr/>
          <p:nvPr/>
        </p:nvSpPr>
        <p:spPr>
          <a:xfrm>
            <a:off x="457200" y="914400"/>
            <a:ext cx="8229600" cy="1188720"/>
          </a:xfrm>
          <a:prstGeom prst="rect">
            <a:avLst/>
          </a:prstGeom>
          <a:solidFill>
            <a:srgbClr val="1E293B"/>
          </a:solidFill>
          <a:ln/>
        </p:spPr>
      </p:sp>
      <p:sp>
        <p:nvSpPr>
          <p:cNvPr id="5" name="Shape 3"/>
          <p:cNvSpPr/>
          <p:nvPr/>
        </p:nvSpPr>
        <p:spPr>
          <a:xfrm>
            <a:off x="457200" y="914400"/>
            <a:ext cx="73152" cy="1188720"/>
          </a:xfrm>
          <a:prstGeom prst="rect">
            <a:avLst/>
          </a:prstGeom>
          <a:solidFill>
            <a:srgbClr val="0EA5E9"/>
          </a:solidFill>
          <a:ln/>
        </p:spPr>
      </p:sp>
      <p:sp>
        <p:nvSpPr>
          <p:cNvPr id="6" name="Text 4"/>
          <p:cNvSpPr/>
          <p:nvPr/>
        </p:nvSpPr>
        <p:spPr>
          <a:xfrm>
            <a:off x="685800" y="1051560"/>
            <a:ext cx="7772400" cy="914400"/>
          </a:xfrm>
          <a:prstGeom prst="rect">
            <a:avLst/>
          </a:prstGeom>
          <a:noFill/>
          <a:ln/>
        </p:spPr>
        <p:txBody>
          <a:bodyPr wrap="square" lIns="0" tIns="0" rIns="0" bIns="0" rtlCol="0" anchor="ctr"/>
          <a:lstStyle/>
          <a:p>
            <a:pPr indent="0" marL="0">
              <a:buNone/>
            </a:pPr>
            <a:r>
              <a:rPr lang="en-US" sz="2000" dirty="0">
                <a:solidFill>
                  <a:srgbClr val="F8FAFC"/>
                </a:solidFill>
                <a:latin typeface="Arial" pitchFamily="34" charset="0"/>
                <a:ea typeface="Arial" pitchFamily="34" charset="-122"/>
                <a:cs typeface="Arial" pitchFamily="34" charset="-120"/>
              </a:rPr>
              <a:t>A family of API kinds providing dynamic infrastructure provisioning and advanced traffic routing in Kubernetes</a:t>
            </a:r>
            <a:endParaRPr lang="en-US" sz="2000" dirty="0"/>
          </a:p>
        </p:txBody>
      </p:sp>
      <p:pic>
        <p:nvPicPr>
          <p:cNvPr id="7" name="Image 0" descr="preencoded.png">    </p:cNvPr>
          <p:cNvPicPr>
            <a:picLocks noChangeAspect="1"/>
          </p:cNvPicPr>
          <p:nvPr/>
        </p:nvPicPr>
        <p:blipFill>
          <a:blip r:embed="rId1"/>
          <a:stretch>
            <a:fillRect/>
          </a:stretch>
        </p:blipFill>
        <p:spPr>
          <a:xfrm>
            <a:off x="548640" y="2331720"/>
            <a:ext cx="274320" cy="274320"/>
          </a:xfrm>
          <a:prstGeom prst="rect">
            <a:avLst/>
          </a:prstGeom>
        </p:spPr>
      </p:pic>
      <p:sp>
        <p:nvSpPr>
          <p:cNvPr id="8" name="Text 5"/>
          <p:cNvSpPr/>
          <p:nvPr/>
        </p:nvSpPr>
        <p:spPr>
          <a:xfrm>
            <a:off x="960120" y="2286000"/>
            <a:ext cx="7315200" cy="36576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Official Kubernetes SIG-Network project</a:t>
            </a:r>
            <a:endParaRPr lang="en-US" sz="1600" dirty="0"/>
          </a:p>
        </p:txBody>
      </p:sp>
      <p:pic>
        <p:nvPicPr>
          <p:cNvPr id="9" name="Image 1" descr="preencoded.png">    </p:cNvPr>
          <p:cNvPicPr>
            <a:picLocks noChangeAspect="1"/>
          </p:cNvPicPr>
          <p:nvPr/>
        </p:nvPicPr>
        <p:blipFill>
          <a:blip r:embed="rId2"/>
          <a:stretch>
            <a:fillRect/>
          </a:stretch>
        </p:blipFill>
        <p:spPr>
          <a:xfrm>
            <a:off x="548640" y="2788920"/>
            <a:ext cx="274320" cy="274320"/>
          </a:xfrm>
          <a:prstGeom prst="rect">
            <a:avLst/>
          </a:prstGeom>
        </p:spPr>
      </p:pic>
      <p:sp>
        <p:nvSpPr>
          <p:cNvPr id="10" name="Text 6"/>
          <p:cNvSpPr/>
          <p:nvPr/>
        </p:nvSpPr>
        <p:spPr>
          <a:xfrm>
            <a:off x="960120" y="2743200"/>
            <a:ext cx="7315200" cy="36576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Custom Resource Definitions (CRDs) - not native to K8s</a:t>
            </a:r>
            <a:endParaRPr lang="en-US" sz="1600" dirty="0"/>
          </a:p>
        </p:txBody>
      </p:sp>
      <p:pic>
        <p:nvPicPr>
          <p:cNvPr id="11" name="Image 2" descr="preencoded.png">    </p:cNvPr>
          <p:cNvPicPr>
            <a:picLocks noChangeAspect="1"/>
          </p:cNvPicPr>
          <p:nvPr/>
        </p:nvPicPr>
        <p:blipFill>
          <a:blip r:embed="rId3"/>
          <a:stretch>
            <a:fillRect/>
          </a:stretch>
        </p:blipFill>
        <p:spPr>
          <a:xfrm>
            <a:off x="548640" y="3246120"/>
            <a:ext cx="274320" cy="274320"/>
          </a:xfrm>
          <a:prstGeom prst="rect">
            <a:avLst/>
          </a:prstGeom>
        </p:spPr>
      </p:pic>
      <p:sp>
        <p:nvSpPr>
          <p:cNvPr id="12" name="Text 7"/>
          <p:cNvSpPr/>
          <p:nvPr/>
        </p:nvSpPr>
        <p:spPr>
          <a:xfrm>
            <a:off x="960120" y="3200400"/>
            <a:ext cx="7315200" cy="36576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Successor to the Ingress API</a:t>
            </a:r>
            <a:endParaRPr lang="en-US" sz="1600" dirty="0"/>
          </a:p>
        </p:txBody>
      </p:sp>
      <p:pic>
        <p:nvPicPr>
          <p:cNvPr id="13" name="Image 3" descr="preencoded.png">    </p:cNvPr>
          <p:cNvPicPr>
            <a:picLocks noChangeAspect="1"/>
          </p:cNvPicPr>
          <p:nvPr/>
        </p:nvPicPr>
        <p:blipFill>
          <a:blip r:embed="rId4"/>
          <a:stretch>
            <a:fillRect/>
          </a:stretch>
        </p:blipFill>
        <p:spPr>
          <a:xfrm>
            <a:off x="548640" y="3703320"/>
            <a:ext cx="274320" cy="274320"/>
          </a:xfrm>
          <a:prstGeom prst="rect">
            <a:avLst/>
          </a:prstGeom>
        </p:spPr>
      </p:pic>
      <p:sp>
        <p:nvSpPr>
          <p:cNvPr id="14" name="Text 8"/>
          <p:cNvSpPr/>
          <p:nvPr/>
        </p:nvSpPr>
        <p:spPr>
          <a:xfrm>
            <a:off x="960120" y="3657600"/>
            <a:ext cx="7315200" cy="36576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GA v1.4.0 released October 2025</a:t>
            </a:r>
            <a:endParaRPr lang="en-US" sz="1600" dirty="0"/>
          </a:p>
        </p:txBody>
      </p:sp>
      <p:sp>
        <p:nvSpPr>
          <p:cNvPr id="15" name="Text 9"/>
          <p:cNvSpPr/>
          <p:nvPr/>
        </p:nvSpPr>
        <p:spPr>
          <a:xfrm>
            <a:off x="457200" y="4389120"/>
            <a:ext cx="8229600" cy="365760"/>
          </a:xfrm>
          <a:prstGeom prst="rect">
            <a:avLst/>
          </a:prstGeom>
          <a:noFill/>
          <a:ln/>
        </p:spPr>
        <p:txBody>
          <a:bodyPr wrap="square" lIns="0" tIns="0" rIns="0" bIns="0" rtlCol="0" anchor="ctr"/>
          <a:lstStyle/>
          <a:p>
            <a:pPr indent="0" marL="0">
              <a:buNone/>
            </a:pPr>
            <a:r>
              <a:rPr lang="en-US" sz="1400" dirty="0">
                <a:solidFill>
                  <a:srgbClr val="F59E0B"/>
                </a:solidFill>
                <a:latin typeface="Arial" pitchFamily="34" charset="0"/>
                <a:ea typeface="Arial" pitchFamily="34" charset="-122"/>
                <a:cs typeface="Arial" pitchFamily="34" charset="-120"/>
              </a:rPr>
              <a:t>⚠️  Requires installation of implementation-specific controllers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8229600" cy="548640"/>
          </a:xfrm>
          <a:prstGeom prst="rect">
            <a:avLst/>
          </a:prstGeom>
          <a:noFill/>
          <a:ln/>
        </p:spPr>
        <p:txBody>
          <a:bodyPr wrap="square" lIns="0" tIns="0" rIns="0" bIns="0" rtlCol="0" anchor="ctr"/>
          <a:lstStyle/>
          <a:p>
            <a:pPr indent="0" marL="0">
              <a:buNone/>
            </a:pPr>
            <a:r>
              <a:rPr lang="en-US" sz="3200" dirty="0">
                <a:solidFill>
                  <a:srgbClr val="1E293B"/>
                </a:solidFill>
                <a:latin typeface="Arial Black" pitchFamily="34" charset="0"/>
                <a:ea typeface="Arial Black" pitchFamily="34" charset="-122"/>
                <a:cs typeface="Arial Black" pitchFamily="34" charset="-120"/>
              </a:rPr>
              <a:t>Why Gateway API?</a:t>
            </a:r>
            <a:endParaRPr lang="en-US" sz="3200" dirty="0"/>
          </a:p>
        </p:txBody>
      </p:sp>
      <p:sp>
        <p:nvSpPr>
          <p:cNvPr id="4" name="Text 2"/>
          <p:cNvSpPr/>
          <p:nvPr/>
        </p:nvSpPr>
        <p:spPr>
          <a:xfrm>
            <a:off x="548640" y="777240"/>
            <a:ext cx="8229600" cy="365760"/>
          </a:xfrm>
          <a:prstGeom prst="rect">
            <a:avLst/>
          </a:prstGeom>
          <a:noFill/>
          <a:ln/>
        </p:spPr>
        <p:txBody>
          <a:bodyPr wrap="square" lIns="0" tIns="0" rIns="0" bIns="0" rtlCol="0" anchor="ctr"/>
          <a:lstStyle/>
          <a:p>
            <a:pPr indent="0" marL="0">
              <a:buNone/>
            </a:pPr>
            <a:r>
              <a:rPr lang="en-US" sz="1600" i="1" dirty="0">
                <a:solidFill>
                  <a:srgbClr val="94A3B8"/>
                </a:solidFill>
                <a:latin typeface="Arial" pitchFamily="34" charset="0"/>
                <a:ea typeface="Arial" pitchFamily="34" charset="-122"/>
                <a:cs typeface="Arial" pitchFamily="34" charset="-120"/>
              </a:rPr>
              <a:t>Addressing the limitations of Ingress</a:t>
            </a:r>
            <a:endParaRPr lang="en-US" sz="1600" dirty="0"/>
          </a:p>
        </p:txBody>
      </p:sp>
      <p:sp>
        <p:nvSpPr>
          <p:cNvPr id="5" name="Shape 3"/>
          <p:cNvSpPr/>
          <p:nvPr/>
        </p:nvSpPr>
        <p:spPr>
          <a:xfrm>
            <a:off x="548640" y="1280160"/>
            <a:ext cx="3840480" cy="822960"/>
          </a:xfrm>
          <a:prstGeom prst="rect">
            <a:avLst/>
          </a:prstGeom>
          <a:solidFill>
            <a:srgbClr val="FFFFFF"/>
          </a:solidFill>
          <a:ln/>
        </p:spPr>
      </p:sp>
      <p:sp>
        <p:nvSpPr>
          <p:cNvPr id="6" name="Shape 4"/>
          <p:cNvSpPr/>
          <p:nvPr/>
        </p:nvSpPr>
        <p:spPr>
          <a:xfrm>
            <a:off x="548640" y="1280160"/>
            <a:ext cx="54864" cy="822960"/>
          </a:xfrm>
          <a:prstGeom prst="rect">
            <a:avLst/>
          </a:prstGeom>
          <a:solidFill>
            <a:srgbClr val="EF4444"/>
          </a:solidFill>
          <a:ln/>
        </p:spPr>
      </p:sp>
      <p:pic>
        <p:nvPicPr>
          <p:cNvPr id="7" name="Image 0"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8" name="Text 5"/>
          <p:cNvSpPr/>
          <p:nvPr/>
        </p:nvSpPr>
        <p:spPr>
          <a:xfrm>
            <a:off x="1234440" y="13716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Annotation Chaos</a:t>
            </a:r>
            <a:endParaRPr lang="en-US" sz="1400" dirty="0"/>
          </a:p>
        </p:txBody>
      </p:sp>
      <p:sp>
        <p:nvSpPr>
          <p:cNvPr id="9" name="Text 6"/>
          <p:cNvSpPr/>
          <p:nvPr/>
        </p:nvSpPr>
        <p:spPr>
          <a:xfrm>
            <a:off x="1234440" y="16916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Every controller has its own custom annotations</a:t>
            </a:r>
            <a:endParaRPr lang="en-US" sz="1200" dirty="0"/>
          </a:p>
        </p:txBody>
      </p:sp>
      <p:sp>
        <p:nvSpPr>
          <p:cNvPr id="10" name="Shape 7"/>
          <p:cNvSpPr/>
          <p:nvPr/>
        </p:nvSpPr>
        <p:spPr>
          <a:xfrm>
            <a:off x="548640" y="2194560"/>
            <a:ext cx="3840480" cy="822960"/>
          </a:xfrm>
          <a:prstGeom prst="rect">
            <a:avLst/>
          </a:prstGeom>
          <a:solidFill>
            <a:srgbClr val="FFFFFF"/>
          </a:solidFill>
          <a:ln/>
        </p:spPr>
      </p:sp>
      <p:sp>
        <p:nvSpPr>
          <p:cNvPr id="11" name="Shape 8"/>
          <p:cNvSpPr/>
          <p:nvPr/>
        </p:nvSpPr>
        <p:spPr>
          <a:xfrm>
            <a:off x="548640" y="2194560"/>
            <a:ext cx="54864" cy="822960"/>
          </a:xfrm>
          <a:prstGeom prst="rect">
            <a:avLst/>
          </a:prstGeom>
          <a:solidFill>
            <a:srgbClr val="EF4444"/>
          </a:solidFill>
          <a:ln/>
        </p:spPr>
      </p:sp>
      <p:pic>
        <p:nvPicPr>
          <p:cNvPr id="12" name="Image 1" descr="preencoded.png">    </p:cNvPr>
          <p:cNvPicPr>
            <a:picLocks noChangeAspect="1"/>
          </p:cNvPicPr>
          <p:nvPr/>
        </p:nvPicPr>
        <p:blipFill>
          <a:blip r:embed="rId2"/>
          <a:stretch>
            <a:fillRect/>
          </a:stretch>
        </p:blipFill>
        <p:spPr>
          <a:xfrm>
            <a:off x="731520" y="2423160"/>
            <a:ext cx="365760" cy="365760"/>
          </a:xfrm>
          <a:prstGeom prst="rect">
            <a:avLst/>
          </a:prstGeom>
        </p:spPr>
      </p:pic>
      <p:sp>
        <p:nvSpPr>
          <p:cNvPr id="13" name="Text 9"/>
          <p:cNvSpPr/>
          <p:nvPr/>
        </p:nvSpPr>
        <p:spPr>
          <a:xfrm>
            <a:off x="1234440" y="22860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Limited Expressiveness</a:t>
            </a:r>
            <a:endParaRPr lang="en-US" sz="1400" dirty="0"/>
          </a:p>
        </p:txBody>
      </p:sp>
      <p:sp>
        <p:nvSpPr>
          <p:cNvPr id="14" name="Text 10"/>
          <p:cNvSpPr/>
          <p:nvPr/>
        </p:nvSpPr>
        <p:spPr>
          <a:xfrm>
            <a:off x="1234440" y="26060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Basic HTTP routing only, no native advanced features</a:t>
            </a:r>
            <a:endParaRPr lang="en-US" sz="1200" dirty="0"/>
          </a:p>
        </p:txBody>
      </p:sp>
      <p:sp>
        <p:nvSpPr>
          <p:cNvPr id="15" name="Shape 11"/>
          <p:cNvSpPr/>
          <p:nvPr/>
        </p:nvSpPr>
        <p:spPr>
          <a:xfrm>
            <a:off x="548640" y="3108960"/>
            <a:ext cx="3840480" cy="822960"/>
          </a:xfrm>
          <a:prstGeom prst="rect">
            <a:avLst/>
          </a:prstGeom>
          <a:solidFill>
            <a:srgbClr val="FFFFFF"/>
          </a:solidFill>
          <a:ln/>
        </p:spPr>
      </p:sp>
      <p:sp>
        <p:nvSpPr>
          <p:cNvPr id="16" name="Shape 12"/>
          <p:cNvSpPr/>
          <p:nvPr/>
        </p:nvSpPr>
        <p:spPr>
          <a:xfrm>
            <a:off x="548640" y="3108960"/>
            <a:ext cx="54864" cy="822960"/>
          </a:xfrm>
          <a:prstGeom prst="rect">
            <a:avLst/>
          </a:prstGeom>
          <a:solidFill>
            <a:srgbClr val="EF4444"/>
          </a:solidFill>
          <a:ln/>
        </p:spPr>
      </p:sp>
      <p:pic>
        <p:nvPicPr>
          <p:cNvPr id="17" name="Image 2" descr="preencoded.png">    </p:cNvPr>
          <p:cNvPicPr>
            <a:picLocks noChangeAspect="1"/>
          </p:cNvPicPr>
          <p:nvPr/>
        </p:nvPicPr>
        <p:blipFill>
          <a:blip r:embed="rId3"/>
          <a:stretch>
            <a:fillRect/>
          </a:stretch>
        </p:blipFill>
        <p:spPr>
          <a:xfrm>
            <a:off x="731520" y="3337560"/>
            <a:ext cx="365760" cy="365760"/>
          </a:xfrm>
          <a:prstGeom prst="rect">
            <a:avLst/>
          </a:prstGeom>
        </p:spPr>
      </p:pic>
      <p:sp>
        <p:nvSpPr>
          <p:cNvPr id="18" name="Text 13"/>
          <p:cNvSpPr/>
          <p:nvPr/>
        </p:nvSpPr>
        <p:spPr>
          <a:xfrm>
            <a:off x="1234440" y="32004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No Role Separation</a:t>
            </a:r>
            <a:endParaRPr lang="en-US" sz="1400" dirty="0"/>
          </a:p>
        </p:txBody>
      </p:sp>
      <p:sp>
        <p:nvSpPr>
          <p:cNvPr id="19" name="Text 14"/>
          <p:cNvSpPr/>
          <p:nvPr/>
        </p:nvSpPr>
        <p:spPr>
          <a:xfrm>
            <a:off x="1234440" y="35204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Single resource managed by everyone</a:t>
            </a:r>
            <a:endParaRPr lang="en-US" sz="1200" dirty="0"/>
          </a:p>
        </p:txBody>
      </p:sp>
      <p:sp>
        <p:nvSpPr>
          <p:cNvPr id="20" name="Shape 15"/>
          <p:cNvSpPr/>
          <p:nvPr/>
        </p:nvSpPr>
        <p:spPr>
          <a:xfrm>
            <a:off x="548640" y="4023360"/>
            <a:ext cx="3840480" cy="822960"/>
          </a:xfrm>
          <a:prstGeom prst="rect">
            <a:avLst/>
          </a:prstGeom>
          <a:solidFill>
            <a:srgbClr val="FFFFFF"/>
          </a:solidFill>
          <a:ln/>
        </p:spPr>
      </p:sp>
      <p:sp>
        <p:nvSpPr>
          <p:cNvPr id="21" name="Shape 16"/>
          <p:cNvSpPr/>
          <p:nvPr/>
        </p:nvSpPr>
        <p:spPr>
          <a:xfrm>
            <a:off x="548640" y="4023360"/>
            <a:ext cx="54864" cy="822960"/>
          </a:xfrm>
          <a:prstGeom prst="rect">
            <a:avLst/>
          </a:prstGeom>
          <a:solidFill>
            <a:srgbClr val="EF4444"/>
          </a:solidFill>
          <a:ln/>
        </p:spPr>
      </p:sp>
      <p:pic>
        <p:nvPicPr>
          <p:cNvPr id="22" name="Image 3" descr="preencoded.png">    </p:cNvPr>
          <p:cNvPicPr>
            <a:picLocks noChangeAspect="1"/>
          </p:cNvPicPr>
          <p:nvPr/>
        </p:nvPicPr>
        <p:blipFill>
          <a:blip r:embed="rId4"/>
          <a:stretch>
            <a:fillRect/>
          </a:stretch>
        </p:blipFill>
        <p:spPr>
          <a:xfrm>
            <a:off x="731520" y="4251960"/>
            <a:ext cx="365760" cy="365760"/>
          </a:xfrm>
          <a:prstGeom prst="rect">
            <a:avLst/>
          </a:prstGeom>
        </p:spPr>
      </p:pic>
      <p:sp>
        <p:nvSpPr>
          <p:cNvPr id="23" name="Text 17"/>
          <p:cNvSpPr/>
          <p:nvPr/>
        </p:nvSpPr>
        <p:spPr>
          <a:xfrm>
            <a:off x="1234440" y="41148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HTTP Only</a:t>
            </a:r>
            <a:endParaRPr lang="en-US" sz="1400" dirty="0"/>
          </a:p>
        </p:txBody>
      </p:sp>
      <p:sp>
        <p:nvSpPr>
          <p:cNvPr id="24" name="Text 18"/>
          <p:cNvSpPr/>
          <p:nvPr/>
        </p:nvSpPr>
        <p:spPr>
          <a:xfrm>
            <a:off x="1234440" y="44348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No native TCP/UDP/gRPC support</a:t>
            </a:r>
            <a:endParaRPr lang="en-US" sz="1200" dirty="0"/>
          </a:p>
        </p:txBody>
      </p:sp>
      <p:sp>
        <p:nvSpPr>
          <p:cNvPr id="25" name="Shape 19"/>
          <p:cNvSpPr/>
          <p:nvPr/>
        </p:nvSpPr>
        <p:spPr>
          <a:xfrm>
            <a:off x="4754880" y="1280160"/>
            <a:ext cx="3840480" cy="822960"/>
          </a:xfrm>
          <a:prstGeom prst="rect">
            <a:avLst/>
          </a:prstGeom>
          <a:solidFill>
            <a:srgbClr val="FFFFFF"/>
          </a:solidFill>
          <a:ln/>
        </p:spPr>
      </p:sp>
      <p:sp>
        <p:nvSpPr>
          <p:cNvPr id="26" name="Shape 20"/>
          <p:cNvSpPr/>
          <p:nvPr/>
        </p:nvSpPr>
        <p:spPr>
          <a:xfrm>
            <a:off x="4754880" y="1280160"/>
            <a:ext cx="54864" cy="822960"/>
          </a:xfrm>
          <a:prstGeom prst="rect">
            <a:avLst/>
          </a:prstGeom>
          <a:solidFill>
            <a:srgbClr val="10B981"/>
          </a:solidFill>
          <a:ln/>
        </p:spPr>
      </p:sp>
      <p:pic>
        <p:nvPicPr>
          <p:cNvPr id="27" name="Image 4" descr="preencoded.png">    </p:cNvPr>
          <p:cNvPicPr>
            <a:picLocks noChangeAspect="1"/>
          </p:cNvPicPr>
          <p:nvPr/>
        </p:nvPicPr>
        <p:blipFill>
          <a:blip r:embed="rId5"/>
          <a:stretch>
            <a:fillRect/>
          </a:stretch>
        </p:blipFill>
        <p:spPr>
          <a:xfrm>
            <a:off x="4937760" y="1508760"/>
            <a:ext cx="365760" cy="365760"/>
          </a:xfrm>
          <a:prstGeom prst="rect">
            <a:avLst/>
          </a:prstGeom>
        </p:spPr>
      </p:pic>
      <p:sp>
        <p:nvSpPr>
          <p:cNvPr id="28" name="Text 21"/>
          <p:cNvSpPr/>
          <p:nvPr/>
        </p:nvSpPr>
        <p:spPr>
          <a:xfrm>
            <a:off x="5440680" y="13716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Standardized Spec</a:t>
            </a:r>
            <a:endParaRPr lang="en-US" sz="1400" dirty="0"/>
          </a:p>
        </p:txBody>
      </p:sp>
      <p:sp>
        <p:nvSpPr>
          <p:cNvPr id="29" name="Text 22"/>
          <p:cNvSpPr/>
          <p:nvPr/>
        </p:nvSpPr>
        <p:spPr>
          <a:xfrm>
            <a:off x="5440680" y="16916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Features built into API, portable across vendors</a:t>
            </a:r>
            <a:endParaRPr lang="en-US" sz="1200" dirty="0"/>
          </a:p>
        </p:txBody>
      </p:sp>
      <p:sp>
        <p:nvSpPr>
          <p:cNvPr id="30" name="Shape 23"/>
          <p:cNvSpPr/>
          <p:nvPr/>
        </p:nvSpPr>
        <p:spPr>
          <a:xfrm>
            <a:off x="4754880" y="2194560"/>
            <a:ext cx="3840480" cy="822960"/>
          </a:xfrm>
          <a:prstGeom prst="rect">
            <a:avLst/>
          </a:prstGeom>
          <a:solidFill>
            <a:srgbClr val="FFFFFF"/>
          </a:solidFill>
          <a:ln/>
        </p:spPr>
      </p:sp>
      <p:sp>
        <p:nvSpPr>
          <p:cNvPr id="31" name="Shape 24"/>
          <p:cNvSpPr/>
          <p:nvPr/>
        </p:nvSpPr>
        <p:spPr>
          <a:xfrm>
            <a:off x="4754880" y="2194560"/>
            <a:ext cx="54864" cy="822960"/>
          </a:xfrm>
          <a:prstGeom prst="rect">
            <a:avLst/>
          </a:prstGeom>
          <a:solidFill>
            <a:srgbClr val="10B981"/>
          </a:solidFill>
          <a:ln/>
        </p:spPr>
      </p:sp>
      <p:pic>
        <p:nvPicPr>
          <p:cNvPr id="32" name="Image 5" descr="preencoded.png">    </p:cNvPr>
          <p:cNvPicPr>
            <a:picLocks noChangeAspect="1"/>
          </p:cNvPicPr>
          <p:nvPr/>
        </p:nvPicPr>
        <p:blipFill>
          <a:blip r:embed="rId6"/>
          <a:stretch>
            <a:fillRect/>
          </a:stretch>
        </p:blipFill>
        <p:spPr>
          <a:xfrm>
            <a:off x="4937760" y="2423160"/>
            <a:ext cx="365760" cy="365760"/>
          </a:xfrm>
          <a:prstGeom prst="rect">
            <a:avLst/>
          </a:prstGeom>
        </p:spPr>
      </p:pic>
      <p:sp>
        <p:nvSpPr>
          <p:cNvPr id="33" name="Text 25"/>
          <p:cNvSpPr/>
          <p:nvPr/>
        </p:nvSpPr>
        <p:spPr>
          <a:xfrm>
            <a:off x="5440680" y="22860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Native Advanced Routing</a:t>
            </a:r>
            <a:endParaRPr lang="en-US" sz="1400" dirty="0"/>
          </a:p>
        </p:txBody>
      </p:sp>
      <p:sp>
        <p:nvSpPr>
          <p:cNvPr id="34" name="Text 26"/>
          <p:cNvSpPr/>
          <p:nvPr/>
        </p:nvSpPr>
        <p:spPr>
          <a:xfrm>
            <a:off x="5440680" y="26060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Headers, weights, mirroring - no annotations</a:t>
            </a:r>
            <a:endParaRPr lang="en-US" sz="1200" dirty="0"/>
          </a:p>
        </p:txBody>
      </p:sp>
      <p:sp>
        <p:nvSpPr>
          <p:cNvPr id="35" name="Shape 27"/>
          <p:cNvSpPr/>
          <p:nvPr/>
        </p:nvSpPr>
        <p:spPr>
          <a:xfrm>
            <a:off x="4754880" y="3108960"/>
            <a:ext cx="3840480" cy="822960"/>
          </a:xfrm>
          <a:prstGeom prst="rect">
            <a:avLst/>
          </a:prstGeom>
          <a:solidFill>
            <a:srgbClr val="FFFFFF"/>
          </a:solidFill>
          <a:ln/>
        </p:spPr>
      </p:sp>
      <p:sp>
        <p:nvSpPr>
          <p:cNvPr id="36" name="Shape 28"/>
          <p:cNvSpPr/>
          <p:nvPr/>
        </p:nvSpPr>
        <p:spPr>
          <a:xfrm>
            <a:off x="4754880" y="3108960"/>
            <a:ext cx="54864" cy="822960"/>
          </a:xfrm>
          <a:prstGeom prst="rect">
            <a:avLst/>
          </a:prstGeom>
          <a:solidFill>
            <a:srgbClr val="10B981"/>
          </a:solidFill>
          <a:ln/>
        </p:spPr>
      </p:sp>
      <p:pic>
        <p:nvPicPr>
          <p:cNvPr id="37" name="Image 6" descr="preencoded.png">    </p:cNvPr>
          <p:cNvPicPr>
            <a:picLocks noChangeAspect="1"/>
          </p:cNvPicPr>
          <p:nvPr/>
        </p:nvPicPr>
        <p:blipFill>
          <a:blip r:embed="rId7"/>
          <a:stretch>
            <a:fillRect/>
          </a:stretch>
        </p:blipFill>
        <p:spPr>
          <a:xfrm>
            <a:off x="4937760" y="3337560"/>
            <a:ext cx="365760" cy="365760"/>
          </a:xfrm>
          <a:prstGeom prst="rect">
            <a:avLst/>
          </a:prstGeom>
        </p:spPr>
      </p:pic>
      <p:sp>
        <p:nvSpPr>
          <p:cNvPr id="38" name="Text 29"/>
          <p:cNvSpPr/>
          <p:nvPr/>
        </p:nvSpPr>
        <p:spPr>
          <a:xfrm>
            <a:off x="5440680" y="32004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Role-Based Design</a:t>
            </a:r>
            <a:endParaRPr lang="en-US" sz="1400" dirty="0"/>
          </a:p>
        </p:txBody>
      </p:sp>
      <p:sp>
        <p:nvSpPr>
          <p:cNvPr id="39" name="Text 30"/>
          <p:cNvSpPr/>
          <p:nvPr/>
        </p:nvSpPr>
        <p:spPr>
          <a:xfrm>
            <a:off x="5440680" y="35204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Infra, Cluster Ops, App Devs - clear boundaries</a:t>
            </a:r>
            <a:endParaRPr lang="en-US" sz="1200" dirty="0"/>
          </a:p>
        </p:txBody>
      </p:sp>
      <p:sp>
        <p:nvSpPr>
          <p:cNvPr id="40" name="Shape 31"/>
          <p:cNvSpPr/>
          <p:nvPr/>
        </p:nvSpPr>
        <p:spPr>
          <a:xfrm>
            <a:off x="4754880" y="4023360"/>
            <a:ext cx="3840480" cy="822960"/>
          </a:xfrm>
          <a:prstGeom prst="rect">
            <a:avLst/>
          </a:prstGeom>
          <a:solidFill>
            <a:srgbClr val="FFFFFF"/>
          </a:solidFill>
          <a:ln/>
        </p:spPr>
      </p:sp>
      <p:sp>
        <p:nvSpPr>
          <p:cNvPr id="41" name="Shape 32"/>
          <p:cNvSpPr/>
          <p:nvPr/>
        </p:nvSpPr>
        <p:spPr>
          <a:xfrm>
            <a:off x="4754880" y="4023360"/>
            <a:ext cx="54864" cy="822960"/>
          </a:xfrm>
          <a:prstGeom prst="rect">
            <a:avLst/>
          </a:prstGeom>
          <a:solidFill>
            <a:srgbClr val="10B981"/>
          </a:solidFill>
          <a:ln/>
        </p:spPr>
      </p:sp>
      <p:pic>
        <p:nvPicPr>
          <p:cNvPr id="42" name="Image 7" descr="preencoded.png">    </p:cNvPr>
          <p:cNvPicPr>
            <a:picLocks noChangeAspect="1"/>
          </p:cNvPicPr>
          <p:nvPr/>
        </p:nvPicPr>
        <p:blipFill>
          <a:blip r:embed="rId8"/>
          <a:stretch>
            <a:fillRect/>
          </a:stretch>
        </p:blipFill>
        <p:spPr>
          <a:xfrm>
            <a:off x="4937760" y="4251960"/>
            <a:ext cx="365760" cy="365760"/>
          </a:xfrm>
          <a:prstGeom prst="rect">
            <a:avLst/>
          </a:prstGeom>
        </p:spPr>
      </p:pic>
      <p:sp>
        <p:nvSpPr>
          <p:cNvPr id="43" name="Text 33"/>
          <p:cNvSpPr/>
          <p:nvPr/>
        </p:nvSpPr>
        <p:spPr>
          <a:xfrm>
            <a:off x="5440680" y="4114800"/>
            <a:ext cx="301752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Multi-Protocol</a:t>
            </a:r>
            <a:endParaRPr lang="en-US" sz="1400" dirty="0"/>
          </a:p>
        </p:txBody>
      </p:sp>
      <p:sp>
        <p:nvSpPr>
          <p:cNvPr id="44" name="Text 34"/>
          <p:cNvSpPr/>
          <p:nvPr/>
        </p:nvSpPr>
        <p:spPr>
          <a:xfrm>
            <a:off x="5440680" y="4434840"/>
            <a:ext cx="301752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HTTP, HTTPS, TCP, UDP, gRPC, TLS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Design Principles</a:t>
            </a:r>
            <a:endParaRPr lang="en-US" sz="3200" dirty="0"/>
          </a:p>
        </p:txBody>
      </p:sp>
      <p:sp>
        <p:nvSpPr>
          <p:cNvPr id="4" name="Shape 2"/>
          <p:cNvSpPr/>
          <p:nvPr/>
        </p:nvSpPr>
        <p:spPr>
          <a:xfrm>
            <a:off x="457200" y="914400"/>
            <a:ext cx="8229600" cy="914400"/>
          </a:xfrm>
          <a:prstGeom prst="rect">
            <a:avLst/>
          </a:prstGeom>
          <a:solidFill>
            <a:srgbClr val="1E293B"/>
          </a:solidFill>
          <a:ln/>
        </p:spPr>
      </p:sp>
      <p:pic>
        <p:nvPicPr>
          <p:cNvPr id="5" name="Image 0" descr="preencoded.png">    </p:cNvPr>
          <p:cNvPicPr>
            <a:picLocks noChangeAspect="1"/>
          </p:cNvPicPr>
          <p:nvPr/>
        </p:nvPicPr>
        <p:blipFill>
          <a:blip r:embed="rId1"/>
          <a:stretch>
            <a:fillRect/>
          </a:stretch>
        </p:blipFill>
        <p:spPr>
          <a:xfrm>
            <a:off x="640080" y="1143000"/>
            <a:ext cx="457200" cy="457200"/>
          </a:xfrm>
          <a:prstGeom prst="rect">
            <a:avLst/>
          </a:prstGeom>
        </p:spPr>
      </p:pic>
      <p:sp>
        <p:nvSpPr>
          <p:cNvPr id="6" name="Text 3"/>
          <p:cNvSpPr/>
          <p:nvPr/>
        </p:nvSpPr>
        <p:spPr>
          <a:xfrm>
            <a:off x="1280160" y="1051560"/>
            <a:ext cx="7223760" cy="32004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Role-Oriented</a:t>
            </a:r>
            <a:endParaRPr lang="en-US" sz="1800" dirty="0"/>
          </a:p>
        </p:txBody>
      </p:sp>
      <p:sp>
        <p:nvSpPr>
          <p:cNvPr id="7" name="Text 4"/>
          <p:cNvSpPr/>
          <p:nvPr/>
        </p:nvSpPr>
        <p:spPr>
          <a:xfrm>
            <a:off x="1280160" y="1371600"/>
            <a:ext cx="7223760" cy="365760"/>
          </a:xfrm>
          <a:prstGeom prst="rect">
            <a:avLst/>
          </a:prstGeom>
          <a:noFill/>
          <a:ln/>
        </p:spPr>
        <p:txBody>
          <a:bodyPr wrap="square" lIns="0" tIns="0" rIns="0" bIns="0" rtlCol="0" anchor="ctr"/>
          <a:lstStyle/>
          <a:p>
            <a:pPr indent="0" marL="0">
              <a:buNone/>
            </a:pPr>
            <a:r>
              <a:rPr lang="en-US" sz="1400" dirty="0">
                <a:solidFill>
                  <a:srgbClr val="F8FAFC"/>
                </a:solidFill>
                <a:latin typeface="Arial" pitchFamily="34" charset="0"/>
                <a:ea typeface="Arial" pitchFamily="34" charset="-122"/>
                <a:cs typeface="Arial" pitchFamily="34" charset="-120"/>
              </a:rPr>
              <a:t>APIs map to organizational roles: Infrastructure Provider, Cluster Operator, Application Developer</a:t>
            </a:r>
            <a:endParaRPr lang="en-US" sz="1400" dirty="0"/>
          </a:p>
        </p:txBody>
      </p:sp>
      <p:sp>
        <p:nvSpPr>
          <p:cNvPr id="8" name="Shape 5"/>
          <p:cNvSpPr/>
          <p:nvPr/>
        </p:nvSpPr>
        <p:spPr>
          <a:xfrm>
            <a:off x="457200" y="1920240"/>
            <a:ext cx="8229600" cy="914400"/>
          </a:xfrm>
          <a:prstGeom prst="rect">
            <a:avLst/>
          </a:prstGeom>
          <a:solidFill>
            <a:srgbClr val="1E293B"/>
          </a:solidFill>
          <a:ln/>
        </p:spPr>
      </p:sp>
      <p:pic>
        <p:nvPicPr>
          <p:cNvPr id="9" name="Image 1" descr="preencoded.png">    </p:cNvPr>
          <p:cNvPicPr>
            <a:picLocks noChangeAspect="1"/>
          </p:cNvPicPr>
          <p:nvPr/>
        </p:nvPicPr>
        <p:blipFill>
          <a:blip r:embed="rId2"/>
          <a:stretch>
            <a:fillRect/>
          </a:stretch>
        </p:blipFill>
        <p:spPr>
          <a:xfrm>
            <a:off x="640080" y="2148840"/>
            <a:ext cx="457200" cy="457200"/>
          </a:xfrm>
          <a:prstGeom prst="rect">
            <a:avLst/>
          </a:prstGeom>
        </p:spPr>
      </p:pic>
      <p:sp>
        <p:nvSpPr>
          <p:cNvPr id="10" name="Text 6"/>
          <p:cNvSpPr/>
          <p:nvPr/>
        </p:nvSpPr>
        <p:spPr>
          <a:xfrm>
            <a:off x="1280160" y="2057400"/>
            <a:ext cx="7223760" cy="32004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Portable</a:t>
            </a:r>
            <a:endParaRPr lang="en-US" sz="1800" dirty="0"/>
          </a:p>
        </p:txBody>
      </p:sp>
      <p:sp>
        <p:nvSpPr>
          <p:cNvPr id="11" name="Text 7"/>
          <p:cNvSpPr/>
          <p:nvPr/>
        </p:nvSpPr>
        <p:spPr>
          <a:xfrm>
            <a:off x="1280160" y="2377440"/>
            <a:ext cx="7223760" cy="365760"/>
          </a:xfrm>
          <a:prstGeom prst="rect">
            <a:avLst/>
          </a:prstGeom>
          <a:noFill/>
          <a:ln/>
        </p:spPr>
        <p:txBody>
          <a:bodyPr wrap="square" lIns="0" tIns="0" rIns="0" bIns="0" rtlCol="0" anchor="ctr"/>
          <a:lstStyle/>
          <a:p>
            <a:pPr indent="0" marL="0">
              <a:buNone/>
            </a:pPr>
            <a:r>
              <a:rPr lang="en-US" sz="1400" dirty="0">
                <a:solidFill>
                  <a:srgbClr val="F8FAFC"/>
                </a:solidFill>
                <a:latin typeface="Arial" pitchFamily="34" charset="0"/>
                <a:ea typeface="Arial" pitchFamily="34" charset="-122"/>
                <a:cs typeface="Arial" pitchFamily="34" charset="-120"/>
              </a:rPr>
              <a:t>Standardized specs work across implementations - switch vendors without rewriting configs</a:t>
            </a:r>
            <a:endParaRPr lang="en-US" sz="1400" dirty="0"/>
          </a:p>
        </p:txBody>
      </p:sp>
      <p:sp>
        <p:nvSpPr>
          <p:cNvPr id="12" name="Shape 8"/>
          <p:cNvSpPr/>
          <p:nvPr/>
        </p:nvSpPr>
        <p:spPr>
          <a:xfrm>
            <a:off x="457200" y="2926080"/>
            <a:ext cx="8229600" cy="914400"/>
          </a:xfrm>
          <a:prstGeom prst="rect">
            <a:avLst/>
          </a:prstGeom>
          <a:solidFill>
            <a:srgbClr val="1E293B"/>
          </a:solidFill>
          <a:ln/>
        </p:spPr>
      </p:sp>
      <p:pic>
        <p:nvPicPr>
          <p:cNvPr id="13" name="Image 2" descr="preencoded.png">    </p:cNvPr>
          <p:cNvPicPr>
            <a:picLocks noChangeAspect="1"/>
          </p:cNvPicPr>
          <p:nvPr/>
        </p:nvPicPr>
        <p:blipFill>
          <a:blip r:embed="rId3"/>
          <a:stretch>
            <a:fillRect/>
          </a:stretch>
        </p:blipFill>
        <p:spPr>
          <a:xfrm>
            <a:off x="640080" y="3154680"/>
            <a:ext cx="457200" cy="457200"/>
          </a:xfrm>
          <a:prstGeom prst="rect">
            <a:avLst/>
          </a:prstGeom>
        </p:spPr>
      </p:pic>
      <p:sp>
        <p:nvSpPr>
          <p:cNvPr id="14" name="Text 9"/>
          <p:cNvSpPr/>
          <p:nvPr/>
        </p:nvSpPr>
        <p:spPr>
          <a:xfrm>
            <a:off x="1280160" y="3063240"/>
            <a:ext cx="7223760" cy="32004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Expressive</a:t>
            </a:r>
            <a:endParaRPr lang="en-US" sz="1800" dirty="0"/>
          </a:p>
        </p:txBody>
      </p:sp>
      <p:sp>
        <p:nvSpPr>
          <p:cNvPr id="15" name="Text 10"/>
          <p:cNvSpPr/>
          <p:nvPr/>
        </p:nvSpPr>
        <p:spPr>
          <a:xfrm>
            <a:off x="1280160" y="3383280"/>
            <a:ext cx="7223760" cy="365760"/>
          </a:xfrm>
          <a:prstGeom prst="rect">
            <a:avLst/>
          </a:prstGeom>
          <a:noFill/>
          <a:ln/>
        </p:spPr>
        <p:txBody>
          <a:bodyPr wrap="square" lIns="0" tIns="0" rIns="0" bIns="0" rtlCol="0" anchor="ctr"/>
          <a:lstStyle/>
          <a:p>
            <a:pPr indent="0" marL="0">
              <a:buNone/>
            </a:pPr>
            <a:r>
              <a:rPr lang="en-US" sz="1400" dirty="0">
                <a:solidFill>
                  <a:srgbClr val="F8FAFC"/>
                </a:solidFill>
                <a:latin typeface="Arial" pitchFamily="34" charset="0"/>
                <a:ea typeface="Arial" pitchFamily="34" charset="-122"/>
                <a:cs typeface="Arial" pitchFamily="34" charset="-120"/>
              </a:rPr>
              <a:t>Native support for header matching, traffic weighting, URL rewrites - no annotations needed</a:t>
            </a:r>
            <a:endParaRPr lang="en-US" sz="1400" dirty="0"/>
          </a:p>
        </p:txBody>
      </p:sp>
      <p:sp>
        <p:nvSpPr>
          <p:cNvPr id="16" name="Shape 11"/>
          <p:cNvSpPr/>
          <p:nvPr/>
        </p:nvSpPr>
        <p:spPr>
          <a:xfrm>
            <a:off x="457200" y="3931920"/>
            <a:ext cx="8229600" cy="914400"/>
          </a:xfrm>
          <a:prstGeom prst="rect">
            <a:avLst/>
          </a:prstGeom>
          <a:solidFill>
            <a:srgbClr val="1E293B"/>
          </a:solidFill>
          <a:ln/>
        </p:spPr>
      </p:sp>
      <p:pic>
        <p:nvPicPr>
          <p:cNvPr id="17" name="Image 3" descr="preencoded.png">    </p:cNvPr>
          <p:cNvPicPr>
            <a:picLocks noChangeAspect="1"/>
          </p:cNvPicPr>
          <p:nvPr/>
        </p:nvPicPr>
        <p:blipFill>
          <a:blip r:embed="rId4"/>
          <a:stretch>
            <a:fillRect/>
          </a:stretch>
        </p:blipFill>
        <p:spPr>
          <a:xfrm>
            <a:off x="640080" y="4160520"/>
            <a:ext cx="457200" cy="457200"/>
          </a:xfrm>
          <a:prstGeom prst="rect">
            <a:avLst/>
          </a:prstGeom>
        </p:spPr>
      </p:pic>
      <p:sp>
        <p:nvSpPr>
          <p:cNvPr id="18" name="Text 12"/>
          <p:cNvSpPr/>
          <p:nvPr/>
        </p:nvSpPr>
        <p:spPr>
          <a:xfrm>
            <a:off x="1280160" y="4069080"/>
            <a:ext cx="7223760" cy="32004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Extensible</a:t>
            </a:r>
            <a:endParaRPr lang="en-US" sz="1800" dirty="0"/>
          </a:p>
        </p:txBody>
      </p:sp>
      <p:sp>
        <p:nvSpPr>
          <p:cNvPr id="19" name="Text 13"/>
          <p:cNvSpPr/>
          <p:nvPr/>
        </p:nvSpPr>
        <p:spPr>
          <a:xfrm>
            <a:off x="1280160" y="4389120"/>
            <a:ext cx="7223760" cy="365760"/>
          </a:xfrm>
          <a:prstGeom prst="rect">
            <a:avLst/>
          </a:prstGeom>
          <a:noFill/>
          <a:ln/>
        </p:spPr>
        <p:txBody>
          <a:bodyPr wrap="square" lIns="0" tIns="0" rIns="0" bIns="0" rtlCol="0" anchor="ctr"/>
          <a:lstStyle/>
          <a:p>
            <a:pPr indent="0" marL="0">
              <a:buNone/>
            </a:pPr>
            <a:r>
              <a:rPr lang="en-US" sz="1400" dirty="0">
                <a:solidFill>
                  <a:srgbClr val="F8FAFC"/>
                </a:solidFill>
                <a:latin typeface="Arial" pitchFamily="34" charset="0"/>
                <a:ea typeface="Arial" pitchFamily="34" charset="-122"/>
                <a:cs typeface="Arial" pitchFamily="34" charset="-120"/>
              </a:rPr>
              <a:t>Custom resources can be linked at various API layers for granular customization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8229600" cy="548640"/>
          </a:xfrm>
          <a:prstGeom prst="rect">
            <a:avLst/>
          </a:prstGeom>
          <a:noFill/>
          <a:ln/>
        </p:spPr>
        <p:txBody>
          <a:bodyPr wrap="square" lIns="0" tIns="0" rIns="0" bIns="0" rtlCol="0" anchor="ctr"/>
          <a:lstStyle/>
          <a:p>
            <a:pPr indent="0" marL="0">
              <a:buNone/>
            </a:pPr>
            <a:r>
              <a:rPr lang="en-US" sz="3200" dirty="0">
                <a:solidFill>
                  <a:srgbClr val="1E293B"/>
                </a:solidFill>
                <a:latin typeface="Arial Black" pitchFamily="34" charset="0"/>
                <a:ea typeface="Arial Black" pitchFamily="34" charset="-122"/>
                <a:cs typeface="Arial Black" pitchFamily="34" charset="-120"/>
              </a:rPr>
              <a:t>Role-Based Model</a:t>
            </a:r>
            <a:endParaRPr lang="en-US" sz="3200" dirty="0"/>
          </a:p>
        </p:txBody>
      </p:sp>
      <p:sp>
        <p:nvSpPr>
          <p:cNvPr id="4" name="Shape 2"/>
          <p:cNvSpPr/>
          <p:nvPr/>
        </p:nvSpPr>
        <p:spPr>
          <a:xfrm>
            <a:off x="548640" y="1005840"/>
            <a:ext cx="2651760" cy="548640"/>
          </a:xfrm>
          <a:prstGeom prst="rect">
            <a:avLst/>
          </a:prstGeom>
          <a:solidFill>
            <a:srgbClr val="7C3AED"/>
          </a:solidFill>
          <a:ln/>
        </p:spPr>
      </p:sp>
      <p:sp>
        <p:nvSpPr>
          <p:cNvPr id="5" name="Text 3"/>
          <p:cNvSpPr/>
          <p:nvPr/>
        </p:nvSpPr>
        <p:spPr>
          <a:xfrm>
            <a:off x="548640" y="1051560"/>
            <a:ext cx="26517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Infrastructure Provider</a:t>
            </a:r>
            <a:endParaRPr lang="en-US" sz="1300" dirty="0"/>
          </a:p>
        </p:txBody>
      </p:sp>
      <p:sp>
        <p:nvSpPr>
          <p:cNvPr id="6" name="Shape 4"/>
          <p:cNvSpPr/>
          <p:nvPr/>
        </p:nvSpPr>
        <p:spPr>
          <a:xfrm>
            <a:off x="548640" y="1554480"/>
            <a:ext cx="2651760" cy="457200"/>
          </a:xfrm>
          <a:prstGeom prst="rect">
            <a:avLst/>
          </a:prstGeom>
          <a:solidFill>
            <a:srgbClr val="FFFFFF"/>
          </a:solidFill>
          <a:ln/>
        </p:spPr>
      </p:sp>
      <p:sp>
        <p:nvSpPr>
          <p:cNvPr id="7" name="Text 5"/>
          <p:cNvSpPr/>
          <p:nvPr/>
        </p:nvSpPr>
        <p:spPr>
          <a:xfrm>
            <a:off x="548640" y="1600200"/>
            <a:ext cx="2651760" cy="365760"/>
          </a:xfrm>
          <a:prstGeom prst="rect">
            <a:avLst/>
          </a:prstGeom>
          <a:noFill/>
          <a:ln/>
        </p:spPr>
        <p:txBody>
          <a:bodyPr wrap="square" lIns="0" tIns="0" rIns="0" bIns="0" rtlCol="0" anchor="ctr"/>
          <a:lstStyle/>
          <a:p>
            <a:pPr algn="ctr" indent="0" marL="0">
              <a:buNone/>
            </a:pPr>
            <a:r>
              <a:rPr lang="en-US" sz="1400" b="1" dirty="0">
                <a:solidFill>
                  <a:srgbClr val="7C3AED"/>
                </a:solidFill>
                <a:latin typeface="Consolas" pitchFamily="34" charset="0"/>
                <a:ea typeface="Consolas" pitchFamily="34" charset="-122"/>
                <a:cs typeface="Consolas" pitchFamily="34" charset="-120"/>
              </a:rPr>
              <a:t>GatewayClass</a:t>
            </a:r>
            <a:endParaRPr lang="en-US" sz="1400" dirty="0"/>
          </a:p>
        </p:txBody>
      </p:sp>
      <p:sp>
        <p:nvSpPr>
          <p:cNvPr id="8" name="Text 6"/>
          <p:cNvSpPr/>
          <p:nvPr/>
        </p:nvSpPr>
        <p:spPr>
          <a:xfrm>
            <a:off x="640080" y="214884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Deploy controllers</a:t>
            </a:r>
            <a:endParaRPr lang="en-US" sz="1100" dirty="0"/>
          </a:p>
        </p:txBody>
      </p:sp>
      <p:sp>
        <p:nvSpPr>
          <p:cNvPr id="9" name="Text 7"/>
          <p:cNvSpPr/>
          <p:nvPr/>
        </p:nvSpPr>
        <p:spPr>
          <a:xfrm>
            <a:off x="640080" y="246888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Define capabilities</a:t>
            </a:r>
            <a:endParaRPr lang="en-US" sz="1100" dirty="0"/>
          </a:p>
        </p:txBody>
      </p:sp>
      <p:sp>
        <p:nvSpPr>
          <p:cNvPr id="10" name="Text 8"/>
          <p:cNvSpPr/>
          <p:nvPr/>
        </p:nvSpPr>
        <p:spPr>
          <a:xfrm>
            <a:off x="640080" y="278892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Multi-tenant config</a:t>
            </a:r>
            <a:endParaRPr lang="en-US" sz="1100" dirty="0"/>
          </a:p>
        </p:txBody>
      </p:sp>
      <p:sp>
        <p:nvSpPr>
          <p:cNvPr id="11" name="Shape 9"/>
          <p:cNvSpPr/>
          <p:nvPr/>
        </p:nvSpPr>
        <p:spPr>
          <a:xfrm>
            <a:off x="3383280" y="1005840"/>
            <a:ext cx="2651760" cy="548640"/>
          </a:xfrm>
          <a:prstGeom prst="rect">
            <a:avLst/>
          </a:prstGeom>
          <a:solidFill>
            <a:srgbClr val="0EA5E9"/>
          </a:solidFill>
          <a:ln/>
        </p:spPr>
      </p:sp>
      <p:sp>
        <p:nvSpPr>
          <p:cNvPr id="12" name="Text 10"/>
          <p:cNvSpPr/>
          <p:nvPr/>
        </p:nvSpPr>
        <p:spPr>
          <a:xfrm>
            <a:off x="3383280" y="1051560"/>
            <a:ext cx="26517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Cluster Operator</a:t>
            </a:r>
            <a:endParaRPr lang="en-US" sz="1300" dirty="0"/>
          </a:p>
        </p:txBody>
      </p:sp>
      <p:sp>
        <p:nvSpPr>
          <p:cNvPr id="13" name="Shape 11"/>
          <p:cNvSpPr/>
          <p:nvPr/>
        </p:nvSpPr>
        <p:spPr>
          <a:xfrm>
            <a:off x="3383280" y="1554480"/>
            <a:ext cx="2651760" cy="457200"/>
          </a:xfrm>
          <a:prstGeom prst="rect">
            <a:avLst/>
          </a:prstGeom>
          <a:solidFill>
            <a:srgbClr val="FFFFFF"/>
          </a:solidFill>
          <a:ln/>
        </p:spPr>
      </p:sp>
      <p:sp>
        <p:nvSpPr>
          <p:cNvPr id="14" name="Text 12"/>
          <p:cNvSpPr/>
          <p:nvPr/>
        </p:nvSpPr>
        <p:spPr>
          <a:xfrm>
            <a:off x="3383280" y="1600200"/>
            <a:ext cx="2651760" cy="365760"/>
          </a:xfrm>
          <a:prstGeom prst="rect">
            <a:avLst/>
          </a:prstGeom>
          <a:noFill/>
          <a:ln/>
        </p:spPr>
        <p:txBody>
          <a:bodyPr wrap="square" lIns="0" tIns="0" rIns="0" bIns="0" rtlCol="0" anchor="ctr"/>
          <a:lstStyle/>
          <a:p>
            <a:pPr algn="ctr" indent="0" marL="0">
              <a:buNone/>
            </a:pPr>
            <a:r>
              <a:rPr lang="en-US" sz="1400" b="1" dirty="0">
                <a:solidFill>
                  <a:srgbClr val="0EA5E9"/>
                </a:solidFill>
                <a:latin typeface="Consolas" pitchFamily="34" charset="0"/>
                <a:ea typeface="Consolas" pitchFamily="34" charset="-122"/>
                <a:cs typeface="Consolas" pitchFamily="34" charset="-120"/>
              </a:rPr>
              <a:t>Gateway</a:t>
            </a:r>
            <a:endParaRPr lang="en-US" sz="1400" dirty="0"/>
          </a:p>
        </p:txBody>
      </p:sp>
      <p:sp>
        <p:nvSpPr>
          <p:cNvPr id="15" name="Text 13"/>
          <p:cNvSpPr/>
          <p:nvPr/>
        </p:nvSpPr>
        <p:spPr>
          <a:xfrm>
            <a:off x="3474720" y="214884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Provision entry points</a:t>
            </a:r>
            <a:endParaRPr lang="en-US" sz="1100" dirty="0"/>
          </a:p>
        </p:txBody>
      </p:sp>
      <p:sp>
        <p:nvSpPr>
          <p:cNvPr id="16" name="Text 14"/>
          <p:cNvSpPr/>
          <p:nvPr/>
        </p:nvSpPr>
        <p:spPr>
          <a:xfrm>
            <a:off x="3474720" y="246888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Set policies</a:t>
            </a:r>
            <a:endParaRPr lang="en-US" sz="1100" dirty="0"/>
          </a:p>
        </p:txBody>
      </p:sp>
      <p:sp>
        <p:nvSpPr>
          <p:cNvPr id="17" name="Text 15"/>
          <p:cNvSpPr/>
          <p:nvPr/>
        </p:nvSpPr>
        <p:spPr>
          <a:xfrm>
            <a:off x="3474720" y="278892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Manage namespaces</a:t>
            </a:r>
            <a:endParaRPr lang="en-US" sz="1100" dirty="0"/>
          </a:p>
        </p:txBody>
      </p:sp>
      <p:sp>
        <p:nvSpPr>
          <p:cNvPr id="18" name="Shape 16"/>
          <p:cNvSpPr/>
          <p:nvPr/>
        </p:nvSpPr>
        <p:spPr>
          <a:xfrm>
            <a:off x="6217920" y="1005840"/>
            <a:ext cx="2651760" cy="548640"/>
          </a:xfrm>
          <a:prstGeom prst="rect">
            <a:avLst/>
          </a:prstGeom>
          <a:solidFill>
            <a:srgbClr val="10B981"/>
          </a:solidFill>
          <a:ln/>
        </p:spPr>
      </p:sp>
      <p:sp>
        <p:nvSpPr>
          <p:cNvPr id="19" name="Text 17"/>
          <p:cNvSpPr/>
          <p:nvPr/>
        </p:nvSpPr>
        <p:spPr>
          <a:xfrm>
            <a:off x="6217920" y="1051560"/>
            <a:ext cx="26517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Application Developer</a:t>
            </a:r>
            <a:endParaRPr lang="en-US" sz="1300" dirty="0"/>
          </a:p>
        </p:txBody>
      </p:sp>
      <p:sp>
        <p:nvSpPr>
          <p:cNvPr id="20" name="Shape 18"/>
          <p:cNvSpPr/>
          <p:nvPr/>
        </p:nvSpPr>
        <p:spPr>
          <a:xfrm>
            <a:off x="6217920" y="1554480"/>
            <a:ext cx="2651760" cy="457200"/>
          </a:xfrm>
          <a:prstGeom prst="rect">
            <a:avLst/>
          </a:prstGeom>
          <a:solidFill>
            <a:srgbClr val="FFFFFF"/>
          </a:solidFill>
          <a:ln/>
        </p:spPr>
      </p:sp>
      <p:sp>
        <p:nvSpPr>
          <p:cNvPr id="21" name="Text 19"/>
          <p:cNvSpPr/>
          <p:nvPr/>
        </p:nvSpPr>
        <p:spPr>
          <a:xfrm>
            <a:off x="6217920" y="1600200"/>
            <a:ext cx="2651760" cy="365760"/>
          </a:xfrm>
          <a:prstGeom prst="rect">
            <a:avLst/>
          </a:prstGeom>
          <a:noFill/>
          <a:ln/>
        </p:spPr>
        <p:txBody>
          <a:bodyPr wrap="square" lIns="0" tIns="0" rIns="0" bIns="0" rtlCol="0" anchor="ctr"/>
          <a:lstStyle/>
          <a:p>
            <a:pPr algn="ctr" indent="0" marL="0">
              <a:buNone/>
            </a:pPr>
            <a:r>
              <a:rPr lang="en-US" sz="1400" b="1" dirty="0">
                <a:solidFill>
                  <a:srgbClr val="10B981"/>
                </a:solidFill>
                <a:latin typeface="Consolas" pitchFamily="34" charset="0"/>
                <a:ea typeface="Consolas" pitchFamily="34" charset="-122"/>
                <a:cs typeface="Consolas" pitchFamily="34" charset="-120"/>
              </a:rPr>
              <a:t>Routes</a:t>
            </a:r>
            <a:endParaRPr lang="en-US" sz="1400" dirty="0"/>
          </a:p>
        </p:txBody>
      </p:sp>
      <p:sp>
        <p:nvSpPr>
          <p:cNvPr id="22" name="Text 20"/>
          <p:cNvSpPr/>
          <p:nvPr/>
        </p:nvSpPr>
        <p:spPr>
          <a:xfrm>
            <a:off x="6309360" y="214884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Define routing rules</a:t>
            </a:r>
            <a:endParaRPr lang="en-US" sz="1100" dirty="0"/>
          </a:p>
        </p:txBody>
      </p:sp>
      <p:sp>
        <p:nvSpPr>
          <p:cNvPr id="23" name="Text 21"/>
          <p:cNvSpPr/>
          <p:nvPr/>
        </p:nvSpPr>
        <p:spPr>
          <a:xfrm>
            <a:off x="6309360" y="246888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Configure backends</a:t>
            </a:r>
            <a:endParaRPr lang="en-US" sz="1100" dirty="0"/>
          </a:p>
        </p:txBody>
      </p:sp>
      <p:sp>
        <p:nvSpPr>
          <p:cNvPr id="24" name="Text 22"/>
          <p:cNvSpPr/>
          <p:nvPr/>
        </p:nvSpPr>
        <p:spPr>
          <a:xfrm>
            <a:off x="6309360" y="2788920"/>
            <a:ext cx="246888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Manage app traffic</a:t>
            </a:r>
            <a:endParaRPr lang="en-US" sz="1100" dirty="0"/>
          </a:p>
        </p:txBody>
      </p:sp>
      <p:sp>
        <p:nvSpPr>
          <p:cNvPr id="25" name="Shape 23"/>
          <p:cNvSpPr/>
          <p:nvPr/>
        </p:nvSpPr>
        <p:spPr>
          <a:xfrm>
            <a:off x="548640" y="3840480"/>
            <a:ext cx="8229600" cy="1097280"/>
          </a:xfrm>
          <a:prstGeom prst="rect">
            <a:avLst/>
          </a:prstGeom>
          <a:solidFill>
            <a:srgbClr val="FFFFFF"/>
          </a:solidFill>
          <a:ln/>
        </p:spPr>
      </p:sp>
      <p:sp>
        <p:nvSpPr>
          <p:cNvPr id="26" name="Text 24"/>
          <p:cNvSpPr/>
          <p:nvPr/>
        </p:nvSpPr>
        <p:spPr>
          <a:xfrm>
            <a:off x="731520" y="4114800"/>
            <a:ext cx="1645920" cy="365760"/>
          </a:xfrm>
          <a:prstGeom prst="rect">
            <a:avLst/>
          </a:prstGeom>
          <a:noFill/>
          <a:ln/>
        </p:spPr>
        <p:txBody>
          <a:bodyPr wrap="square" lIns="0" tIns="0" rIns="0" bIns="0" rtlCol="0" anchor="ctr"/>
          <a:lstStyle/>
          <a:p>
            <a:pPr algn="ctr" indent="0" marL="0">
              <a:buNone/>
            </a:pPr>
            <a:r>
              <a:rPr lang="en-US" sz="1200" b="1" dirty="0">
                <a:solidFill>
                  <a:srgbClr val="7C3AED"/>
                </a:solidFill>
                <a:latin typeface="Consolas" pitchFamily="34" charset="0"/>
                <a:ea typeface="Consolas" pitchFamily="34" charset="-122"/>
                <a:cs typeface="Consolas" pitchFamily="34" charset="-120"/>
              </a:rPr>
              <a:t>GatewayClass</a:t>
            </a:r>
            <a:endParaRPr lang="en-US" sz="1200" dirty="0"/>
          </a:p>
        </p:txBody>
      </p:sp>
      <p:sp>
        <p:nvSpPr>
          <p:cNvPr id="27" name="Text 25"/>
          <p:cNvSpPr/>
          <p:nvPr/>
        </p:nvSpPr>
        <p:spPr>
          <a:xfrm>
            <a:off x="2377440" y="4069080"/>
            <a:ext cx="457200" cy="457200"/>
          </a:xfrm>
          <a:prstGeom prst="rect">
            <a:avLst/>
          </a:prstGeom>
          <a:noFill/>
          <a:ln/>
        </p:spPr>
        <p:txBody>
          <a:bodyPr wrap="square" lIns="0" tIns="0" rIns="0" bIns="0" rtlCol="0" anchor="ctr"/>
          <a:lstStyle/>
          <a:p>
            <a:pPr algn="ctr" indent="0" marL="0">
              <a:buNone/>
            </a:pPr>
            <a:r>
              <a:rPr lang="en-US" sz="2400" dirty="0">
                <a:solidFill>
                  <a:srgbClr val="94A3B8"/>
                </a:solidFill>
                <a:latin typeface="Arial" pitchFamily="34" charset="0"/>
                <a:ea typeface="Arial" pitchFamily="34" charset="-122"/>
                <a:cs typeface="Arial" pitchFamily="34" charset="-120"/>
              </a:rPr>
              <a:t>→</a:t>
            </a:r>
            <a:endParaRPr lang="en-US" sz="2400" dirty="0"/>
          </a:p>
        </p:txBody>
      </p:sp>
      <p:sp>
        <p:nvSpPr>
          <p:cNvPr id="28" name="Text 26"/>
          <p:cNvSpPr/>
          <p:nvPr/>
        </p:nvSpPr>
        <p:spPr>
          <a:xfrm>
            <a:off x="2834640" y="4114800"/>
            <a:ext cx="1371600" cy="365760"/>
          </a:xfrm>
          <a:prstGeom prst="rect">
            <a:avLst/>
          </a:prstGeom>
          <a:noFill/>
          <a:ln/>
        </p:spPr>
        <p:txBody>
          <a:bodyPr wrap="square" lIns="0" tIns="0" rIns="0" bIns="0" rtlCol="0" anchor="ctr"/>
          <a:lstStyle/>
          <a:p>
            <a:pPr algn="ctr" indent="0" marL="0">
              <a:buNone/>
            </a:pPr>
            <a:r>
              <a:rPr lang="en-US" sz="1200" b="1" dirty="0">
                <a:solidFill>
                  <a:srgbClr val="0EA5E9"/>
                </a:solidFill>
                <a:latin typeface="Consolas" pitchFamily="34" charset="0"/>
                <a:ea typeface="Consolas" pitchFamily="34" charset="-122"/>
                <a:cs typeface="Consolas" pitchFamily="34" charset="-120"/>
              </a:rPr>
              <a:t>Gateway</a:t>
            </a:r>
            <a:endParaRPr lang="en-US" sz="1200" dirty="0"/>
          </a:p>
        </p:txBody>
      </p:sp>
      <p:sp>
        <p:nvSpPr>
          <p:cNvPr id="29" name="Text 27"/>
          <p:cNvSpPr/>
          <p:nvPr/>
        </p:nvSpPr>
        <p:spPr>
          <a:xfrm>
            <a:off x="4206240" y="4069080"/>
            <a:ext cx="457200" cy="457200"/>
          </a:xfrm>
          <a:prstGeom prst="rect">
            <a:avLst/>
          </a:prstGeom>
          <a:noFill/>
          <a:ln/>
        </p:spPr>
        <p:txBody>
          <a:bodyPr wrap="square" lIns="0" tIns="0" rIns="0" bIns="0" rtlCol="0" anchor="ctr"/>
          <a:lstStyle/>
          <a:p>
            <a:pPr algn="ctr" indent="0" marL="0">
              <a:buNone/>
            </a:pPr>
            <a:r>
              <a:rPr lang="en-US" sz="2400" dirty="0">
                <a:solidFill>
                  <a:srgbClr val="94A3B8"/>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4663440" y="4114800"/>
            <a:ext cx="2103120" cy="365760"/>
          </a:xfrm>
          <a:prstGeom prst="rect">
            <a:avLst/>
          </a:prstGeom>
          <a:noFill/>
          <a:ln/>
        </p:spPr>
        <p:txBody>
          <a:bodyPr wrap="square" lIns="0" tIns="0" rIns="0" bIns="0" rtlCol="0" anchor="ctr"/>
          <a:lstStyle/>
          <a:p>
            <a:pPr algn="ctr" indent="0" marL="0">
              <a:buNone/>
            </a:pPr>
            <a:r>
              <a:rPr lang="en-US" sz="1200" b="1" dirty="0">
                <a:solidFill>
                  <a:srgbClr val="10B981"/>
                </a:solidFill>
                <a:latin typeface="Consolas" pitchFamily="34" charset="0"/>
                <a:ea typeface="Consolas" pitchFamily="34" charset="-122"/>
                <a:cs typeface="Consolas" pitchFamily="34" charset="-120"/>
              </a:rPr>
              <a:t>HTTPRoute / GRPCRoute</a:t>
            </a:r>
            <a:endParaRPr lang="en-US" sz="1200" dirty="0"/>
          </a:p>
        </p:txBody>
      </p:sp>
      <p:sp>
        <p:nvSpPr>
          <p:cNvPr id="31" name="Text 29"/>
          <p:cNvSpPr/>
          <p:nvPr/>
        </p:nvSpPr>
        <p:spPr>
          <a:xfrm>
            <a:off x="6766560" y="4069080"/>
            <a:ext cx="457200" cy="457200"/>
          </a:xfrm>
          <a:prstGeom prst="rect">
            <a:avLst/>
          </a:prstGeom>
          <a:noFill/>
          <a:ln/>
        </p:spPr>
        <p:txBody>
          <a:bodyPr wrap="square" lIns="0" tIns="0" rIns="0" bIns="0" rtlCol="0" anchor="ctr"/>
          <a:lstStyle/>
          <a:p>
            <a:pPr algn="ctr" indent="0" marL="0">
              <a:buNone/>
            </a:pPr>
            <a:r>
              <a:rPr lang="en-US" sz="2400" dirty="0">
                <a:solidFill>
                  <a:srgbClr val="94A3B8"/>
                </a:solidFill>
                <a:latin typeface="Arial" pitchFamily="34" charset="0"/>
                <a:ea typeface="Arial" pitchFamily="34" charset="-122"/>
                <a:cs typeface="Arial" pitchFamily="34" charset="-120"/>
              </a:rPr>
              <a:t>→</a:t>
            </a:r>
            <a:endParaRPr lang="en-US" sz="2400" dirty="0"/>
          </a:p>
        </p:txBody>
      </p:sp>
      <p:sp>
        <p:nvSpPr>
          <p:cNvPr id="32" name="Text 30"/>
          <p:cNvSpPr/>
          <p:nvPr/>
        </p:nvSpPr>
        <p:spPr>
          <a:xfrm>
            <a:off x="7223760" y="4114800"/>
            <a:ext cx="1371600" cy="365760"/>
          </a:xfrm>
          <a:prstGeom prst="rect">
            <a:avLst/>
          </a:prstGeom>
          <a:noFill/>
          <a:ln/>
        </p:spPr>
        <p:txBody>
          <a:bodyPr wrap="square" lIns="0" tIns="0" rIns="0" bIns="0"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Service/Pods</a:t>
            </a:r>
            <a:endParaRPr lang="en-US" sz="1200" dirty="0"/>
          </a:p>
        </p:txBody>
      </p:sp>
      <p:sp>
        <p:nvSpPr>
          <p:cNvPr id="33" name="Text 31"/>
          <p:cNvSpPr/>
          <p:nvPr/>
        </p:nvSpPr>
        <p:spPr>
          <a:xfrm>
            <a:off x="731520" y="4526280"/>
            <a:ext cx="786384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Arial" pitchFamily="34" charset="0"/>
                <a:ea typeface="Arial" pitchFamily="34" charset="-122"/>
                <a:cs typeface="Arial" pitchFamily="34" charset="-120"/>
              </a:rPr>
              <a:t>Clear separation of concerns prevents conflicts in multi-tenant environments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Core Resources</a:t>
            </a:r>
            <a:endParaRPr lang="en-US" sz="3200" dirty="0"/>
          </a:p>
        </p:txBody>
      </p:sp>
      <p:sp>
        <p:nvSpPr>
          <p:cNvPr id="4" name="Shape 2"/>
          <p:cNvSpPr/>
          <p:nvPr/>
        </p:nvSpPr>
        <p:spPr>
          <a:xfrm>
            <a:off x="457200" y="868680"/>
            <a:ext cx="8229600" cy="777240"/>
          </a:xfrm>
          <a:prstGeom prst="rect">
            <a:avLst/>
          </a:prstGeom>
          <a:solidFill>
            <a:srgbClr val="1E293B"/>
          </a:solidFill>
          <a:ln/>
        </p:spPr>
      </p:sp>
      <p:sp>
        <p:nvSpPr>
          <p:cNvPr id="5" name="Text 3"/>
          <p:cNvSpPr/>
          <p:nvPr/>
        </p:nvSpPr>
        <p:spPr>
          <a:xfrm>
            <a:off x="640080" y="960120"/>
            <a:ext cx="2286000" cy="320040"/>
          </a:xfrm>
          <a:prstGeom prst="rect">
            <a:avLst/>
          </a:prstGeom>
          <a:noFill/>
          <a:ln/>
        </p:spPr>
        <p:txBody>
          <a:bodyPr wrap="square" lIns="0" tIns="0" rIns="0" bIns="0" rtlCol="0" anchor="ctr"/>
          <a:lstStyle/>
          <a:p>
            <a:pPr indent="0" marL="0">
              <a:buNone/>
            </a:pPr>
            <a:r>
              <a:rPr lang="en-US" sz="1600" b="1" dirty="0">
                <a:solidFill>
                  <a:srgbClr val="38BDF8"/>
                </a:solidFill>
                <a:latin typeface="Consolas" pitchFamily="34" charset="0"/>
                <a:ea typeface="Consolas" pitchFamily="34" charset="-122"/>
                <a:cs typeface="Consolas" pitchFamily="34" charset="-120"/>
              </a:rPr>
              <a:t>GatewayClass</a:t>
            </a:r>
            <a:endParaRPr lang="en-US" sz="1600" dirty="0"/>
          </a:p>
        </p:txBody>
      </p:sp>
      <p:sp>
        <p:nvSpPr>
          <p:cNvPr id="6" name="Text 4"/>
          <p:cNvSpPr/>
          <p:nvPr/>
        </p:nvSpPr>
        <p:spPr>
          <a:xfrm>
            <a:off x="640080" y="1280160"/>
            <a:ext cx="228600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7" name="Text 5"/>
          <p:cNvSpPr/>
          <p:nvPr/>
        </p:nvSpPr>
        <p:spPr>
          <a:xfrm>
            <a:off x="3017520" y="1005840"/>
            <a:ext cx="5486400" cy="502920"/>
          </a:xfrm>
          <a:prstGeom prst="rect">
            <a:avLst/>
          </a:prstGeom>
          <a:noFill/>
          <a:ln/>
        </p:spPr>
        <p:txBody>
          <a:bodyPr wrap="square" lIns="0" tIns="0" rIns="0" bIns="0" rtlCol="0" anchor="ctr"/>
          <a:lstStyle/>
          <a:p>
            <a:pPr indent="0" marL="0">
              <a:buNone/>
            </a:pPr>
            <a:r>
              <a:rPr lang="en-US" sz="1300" dirty="0">
                <a:solidFill>
                  <a:srgbClr val="F8FAFC"/>
                </a:solidFill>
                <a:latin typeface="Arial" pitchFamily="34" charset="0"/>
                <a:ea typeface="Arial" pitchFamily="34" charset="-122"/>
                <a:cs typeface="Arial" pitchFamily="34" charset="-120"/>
              </a:rPr>
              <a:t>Defines a class of Gateways with common configuration. Like StorageClass but for networking.</a:t>
            </a:r>
            <a:endParaRPr lang="en-US" sz="1300" dirty="0"/>
          </a:p>
        </p:txBody>
      </p:sp>
      <p:sp>
        <p:nvSpPr>
          <p:cNvPr id="8" name="Shape 6"/>
          <p:cNvSpPr/>
          <p:nvPr/>
        </p:nvSpPr>
        <p:spPr>
          <a:xfrm>
            <a:off x="457200" y="1691640"/>
            <a:ext cx="8229600" cy="777240"/>
          </a:xfrm>
          <a:prstGeom prst="rect">
            <a:avLst/>
          </a:prstGeom>
          <a:solidFill>
            <a:srgbClr val="1E293B"/>
          </a:solidFill>
          <a:ln/>
        </p:spPr>
      </p:sp>
      <p:sp>
        <p:nvSpPr>
          <p:cNvPr id="9" name="Text 7"/>
          <p:cNvSpPr/>
          <p:nvPr/>
        </p:nvSpPr>
        <p:spPr>
          <a:xfrm>
            <a:off x="640080" y="1783080"/>
            <a:ext cx="2286000" cy="320040"/>
          </a:xfrm>
          <a:prstGeom prst="rect">
            <a:avLst/>
          </a:prstGeom>
          <a:noFill/>
          <a:ln/>
        </p:spPr>
        <p:txBody>
          <a:bodyPr wrap="square" lIns="0" tIns="0" rIns="0" bIns="0" rtlCol="0" anchor="ctr"/>
          <a:lstStyle/>
          <a:p>
            <a:pPr indent="0" marL="0">
              <a:buNone/>
            </a:pPr>
            <a:r>
              <a:rPr lang="en-US" sz="1600" b="1" dirty="0">
                <a:solidFill>
                  <a:srgbClr val="38BDF8"/>
                </a:solidFill>
                <a:latin typeface="Consolas" pitchFamily="34" charset="0"/>
                <a:ea typeface="Consolas" pitchFamily="34" charset="-122"/>
                <a:cs typeface="Consolas" pitchFamily="34" charset="-120"/>
              </a:rPr>
              <a:t>Gateway</a:t>
            </a:r>
            <a:endParaRPr lang="en-US" sz="1600" dirty="0"/>
          </a:p>
        </p:txBody>
      </p:sp>
      <p:sp>
        <p:nvSpPr>
          <p:cNvPr id="10" name="Text 8"/>
          <p:cNvSpPr/>
          <p:nvPr/>
        </p:nvSpPr>
        <p:spPr>
          <a:xfrm>
            <a:off x="640080" y="2103120"/>
            <a:ext cx="228600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11" name="Text 9"/>
          <p:cNvSpPr/>
          <p:nvPr/>
        </p:nvSpPr>
        <p:spPr>
          <a:xfrm>
            <a:off x="3017520" y="1828800"/>
            <a:ext cx="5486400" cy="502920"/>
          </a:xfrm>
          <a:prstGeom prst="rect">
            <a:avLst/>
          </a:prstGeom>
          <a:noFill/>
          <a:ln/>
        </p:spPr>
        <p:txBody>
          <a:bodyPr wrap="square" lIns="0" tIns="0" rIns="0" bIns="0" rtlCol="0" anchor="ctr"/>
          <a:lstStyle/>
          <a:p>
            <a:pPr indent="0" marL="0">
              <a:buNone/>
            </a:pPr>
            <a:r>
              <a:rPr lang="en-US" sz="1300" dirty="0">
                <a:solidFill>
                  <a:srgbClr val="F8FAFC"/>
                </a:solidFill>
                <a:latin typeface="Arial" pitchFamily="34" charset="0"/>
                <a:ea typeface="Arial" pitchFamily="34" charset="-122"/>
                <a:cs typeface="Arial" pitchFamily="34" charset="-120"/>
              </a:rPr>
              <a:t>An instance of traffic handling infrastructure (load balancer, proxy). Defines entry points.</a:t>
            </a:r>
            <a:endParaRPr lang="en-US" sz="1300" dirty="0"/>
          </a:p>
        </p:txBody>
      </p:sp>
      <p:sp>
        <p:nvSpPr>
          <p:cNvPr id="12" name="Shape 10"/>
          <p:cNvSpPr/>
          <p:nvPr/>
        </p:nvSpPr>
        <p:spPr>
          <a:xfrm>
            <a:off x="457200" y="2514600"/>
            <a:ext cx="8229600" cy="777240"/>
          </a:xfrm>
          <a:prstGeom prst="rect">
            <a:avLst/>
          </a:prstGeom>
          <a:solidFill>
            <a:srgbClr val="1E293B"/>
          </a:solidFill>
          <a:ln/>
        </p:spPr>
      </p:sp>
      <p:sp>
        <p:nvSpPr>
          <p:cNvPr id="13" name="Text 11"/>
          <p:cNvSpPr/>
          <p:nvPr/>
        </p:nvSpPr>
        <p:spPr>
          <a:xfrm>
            <a:off x="640080" y="2606040"/>
            <a:ext cx="2286000" cy="320040"/>
          </a:xfrm>
          <a:prstGeom prst="rect">
            <a:avLst/>
          </a:prstGeom>
          <a:noFill/>
          <a:ln/>
        </p:spPr>
        <p:txBody>
          <a:bodyPr wrap="square" lIns="0" tIns="0" rIns="0" bIns="0" rtlCol="0" anchor="ctr"/>
          <a:lstStyle/>
          <a:p>
            <a:pPr indent="0" marL="0">
              <a:buNone/>
            </a:pPr>
            <a:r>
              <a:rPr lang="en-US" sz="1600" b="1" dirty="0">
                <a:solidFill>
                  <a:srgbClr val="38BDF8"/>
                </a:solidFill>
                <a:latin typeface="Consolas" pitchFamily="34" charset="0"/>
                <a:ea typeface="Consolas" pitchFamily="34" charset="-122"/>
                <a:cs typeface="Consolas" pitchFamily="34" charset="-120"/>
              </a:rPr>
              <a:t>HTTPRoute</a:t>
            </a:r>
            <a:endParaRPr lang="en-US" sz="1600" dirty="0"/>
          </a:p>
        </p:txBody>
      </p:sp>
      <p:sp>
        <p:nvSpPr>
          <p:cNvPr id="14" name="Text 12"/>
          <p:cNvSpPr/>
          <p:nvPr/>
        </p:nvSpPr>
        <p:spPr>
          <a:xfrm>
            <a:off x="640080" y="2926080"/>
            <a:ext cx="228600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15" name="Text 13"/>
          <p:cNvSpPr/>
          <p:nvPr/>
        </p:nvSpPr>
        <p:spPr>
          <a:xfrm>
            <a:off x="3017520" y="2651760"/>
            <a:ext cx="5486400" cy="502920"/>
          </a:xfrm>
          <a:prstGeom prst="rect">
            <a:avLst/>
          </a:prstGeom>
          <a:noFill/>
          <a:ln/>
        </p:spPr>
        <p:txBody>
          <a:bodyPr wrap="square" lIns="0" tIns="0" rIns="0" bIns="0" rtlCol="0" anchor="ctr"/>
          <a:lstStyle/>
          <a:p>
            <a:pPr indent="0" marL="0">
              <a:buNone/>
            </a:pPr>
            <a:r>
              <a:rPr lang="en-US" sz="1300" dirty="0">
                <a:solidFill>
                  <a:srgbClr val="F8FAFC"/>
                </a:solidFill>
                <a:latin typeface="Arial" pitchFamily="34" charset="0"/>
                <a:ea typeface="Arial" pitchFamily="34" charset="-122"/>
                <a:cs typeface="Arial" pitchFamily="34" charset="-120"/>
              </a:rPr>
              <a:t>HTTP request routing rules. Matches requests and forwards to backends.</a:t>
            </a:r>
            <a:endParaRPr lang="en-US" sz="1300" dirty="0"/>
          </a:p>
        </p:txBody>
      </p:sp>
      <p:sp>
        <p:nvSpPr>
          <p:cNvPr id="16" name="Shape 14"/>
          <p:cNvSpPr/>
          <p:nvPr/>
        </p:nvSpPr>
        <p:spPr>
          <a:xfrm>
            <a:off x="457200" y="3337560"/>
            <a:ext cx="8229600" cy="777240"/>
          </a:xfrm>
          <a:prstGeom prst="rect">
            <a:avLst/>
          </a:prstGeom>
          <a:solidFill>
            <a:srgbClr val="1E293B"/>
          </a:solidFill>
          <a:ln/>
        </p:spPr>
      </p:sp>
      <p:sp>
        <p:nvSpPr>
          <p:cNvPr id="17" name="Text 15"/>
          <p:cNvSpPr/>
          <p:nvPr/>
        </p:nvSpPr>
        <p:spPr>
          <a:xfrm>
            <a:off x="640080" y="3429000"/>
            <a:ext cx="2286000" cy="320040"/>
          </a:xfrm>
          <a:prstGeom prst="rect">
            <a:avLst/>
          </a:prstGeom>
          <a:noFill/>
          <a:ln/>
        </p:spPr>
        <p:txBody>
          <a:bodyPr wrap="square" lIns="0" tIns="0" rIns="0" bIns="0" rtlCol="0" anchor="ctr"/>
          <a:lstStyle/>
          <a:p>
            <a:pPr indent="0" marL="0">
              <a:buNone/>
            </a:pPr>
            <a:r>
              <a:rPr lang="en-US" sz="1600" b="1" dirty="0">
                <a:solidFill>
                  <a:srgbClr val="38BDF8"/>
                </a:solidFill>
                <a:latin typeface="Consolas" pitchFamily="34" charset="0"/>
                <a:ea typeface="Consolas" pitchFamily="34" charset="-122"/>
                <a:cs typeface="Consolas" pitchFamily="34" charset="-120"/>
              </a:rPr>
              <a:t>GRPCRoute</a:t>
            </a:r>
            <a:endParaRPr lang="en-US" sz="1600" dirty="0"/>
          </a:p>
        </p:txBody>
      </p:sp>
      <p:sp>
        <p:nvSpPr>
          <p:cNvPr id="18" name="Text 16"/>
          <p:cNvSpPr/>
          <p:nvPr/>
        </p:nvSpPr>
        <p:spPr>
          <a:xfrm>
            <a:off x="640080" y="3749040"/>
            <a:ext cx="228600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19" name="Text 17"/>
          <p:cNvSpPr/>
          <p:nvPr/>
        </p:nvSpPr>
        <p:spPr>
          <a:xfrm>
            <a:off x="3017520" y="3474720"/>
            <a:ext cx="5486400" cy="502920"/>
          </a:xfrm>
          <a:prstGeom prst="rect">
            <a:avLst/>
          </a:prstGeom>
          <a:noFill/>
          <a:ln/>
        </p:spPr>
        <p:txBody>
          <a:bodyPr wrap="square" lIns="0" tIns="0" rIns="0" bIns="0" rtlCol="0" anchor="ctr"/>
          <a:lstStyle/>
          <a:p>
            <a:pPr indent="0" marL="0">
              <a:buNone/>
            </a:pPr>
            <a:r>
              <a:rPr lang="en-US" sz="1300" dirty="0">
                <a:solidFill>
                  <a:srgbClr val="F8FAFC"/>
                </a:solidFill>
                <a:latin typeface="Arial" pitchFamily="34" charset="0"/>
                <a:ea typeface="Arial" pitchFamily="34" charset="-122"/>
                <a:cs typeface="Arial" pitchFamily="34" charset="-120"/>
              </a:rPr>
              <a:t>gRPC-specific routing. Matches on service/method names.</a:t>
            </a:r>
            <a:endParaRPr lang="en-US" sz="1300" dirty="0"/>
          </a:p>
        </p:txBody>
      </p:sp>
      <p:sp>
        <p:nvSpPr>
          <p:cNvPr id="20" name="Shape 18"/>
          <p:cNvSpPr/>
          <p:nvPr/>
        </p:nvSpPr>
        <p:spPr>
          <a:xfrm>
            <a:off x="457200" y="4160520"/>
            <a:ext cx="8229600" cy="777240"/>
          </a:xfrm>
          <a:prstGeom prst="rect">
            <a:avLst/>
          </a:prstGeom>
          <a:solidFill>
            <a:srgbClr val="1E293B"/>
          </a:solidFill>
          <a:ln/>
        </p:spPr>
      </p:sp>
      <p:sp>
        <p:nvSpPr>
          <p:cNvPr id="21" name="Text 19"/>
          <p:cNvSpPr/>
          <p:nvPr/>
        </p:nvSpPr>
        <p:spPr>
          <a:xfrm>
            <a:off x="640080" y="4251960"/>
            <a:ext cx="2286000" cy="320040"/>
          </a:xfrm>
          <a:prstGeom prst="rect">
            <a:avLst/>
          </a:prstGeom>
          <a:noFill/>
          <a:ln/>
        </p:spPr>
        <p:txBody>
          <a:bodyPr wrap="square" lIns="0" tIns="0" rIns="0" bIns="0" rtlCol="0" anchor="ctr"/>
          <a:lstStyle/>
          <a:p>
            <a:pPr indent="0" marL="0">
              <a:buNone/>
            </a:pPr>
            <a:r>
              <a:rPr lang="en-US" sz="1600" b="1" dirty="0">
                <a:solidFill>
                  <a:srgbClr val="38BDF8"/>
                </a:solidFill>
                <a:latin typeface="Consolas" pitchFamily="34" charset="0"/>
                <a:ea typeface="Consolas" pitchFamily="34" charset="-122"/>
                <a:cs typeface="Consolas" pitchFamily="34" charset="-120"/>
              </a:rPr>
              <a:t>TCPRoute / UDPRoute</a:t>
            </a:r>
            <a:endParaRPr lang="en-US" sz="1600" dirty="0"/>
          </a:p>
        </p:txBody>
      </p:sp>
      <p:sp>
        <p:nvSpPr>
          <p:cNvPr id="22" name="Text 20"/>
          <p:cNvSpPr/>
          <p:nvPr/>
        </p:nvSpPr>
        <p:spPr>
          <a:xfrm>
            <a:off x="640080" y="4572000"/>
            <a:ext cx="228600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Experimental</a:t>
            </a:r>
            <a:endParaRPr lang="en-US" sz="1000" dirty="0"/>
          </a:p>
        </p:txBody>
      </p:sp>
      <p:sp>
        <p:nvSpPr>
          <p:cNvPr id="23" name="Text 21"/>
          <p:cNvSpPr/>
          <p:nvPr/>
        </p:nvSpPr>
        <p:spPr>
          <a:xfrm>
            <a:off x="3017520" y="4297680"/>
            <a:ext cx="5486400" cy="502920"/>
          </a:xfrm>
          <a:prstGeom prst="rect">
            <a:avLst/>
          </a:prstGeom>
          <a:noFill/>
          <a:ln/>
        </p:spPr>
        <p:txBody>
          <a:bodyPr wrap="square" lIns="0" tIns="0" rIns="0" bIns="0" rtlCol="0" anchor="ctr"/>
          <a:lstStyle/>
          <a:p>
            <a:pPr indent="0" marL="0">
              <a:buNone/>
            </a:pPr>
            <a:r>
              <a:rPr lang="en-US" sz="1300" dirty="0">
                <a:solidFill>
                  <a:srgbClr val="F8FAFC"/>
                </a:solidFill>
                <a:latin typeface="Arial" pitchFamily="34" charset="0"/>
                <a:ea typeface="Arial" pitchFamily="34" charset="-122"/>
                <a:cs typeface="Arial" pitchFamily="34" charset="-120"/>
              </a:rPr>
              <a:t>Layer 4 routing for non-HTTP protocols.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dirty="0">
                <a:solidFill>
                  <a:srgbClr val="1E293B"/>
                </a:solidFill>
                <a:latin typeface="Arial Black" pitchFamily="34" charset="0"/>
                <a:ea typeface="Arial Black" pitchFamily="34" charset="-122"/>
                <a:cs typeface="Arial Black" pitchFamily="34" charset="-120"/>
              </a:rPr>
              <a:t>GatewayClass</a:t>
            </a:r>
            <a:endParaRPr lang="en-US" sz="2800" dirty="0"/>
          </a:p>
        </p:txBody>
      </p:sp>
      <p:sp>
        <p:nvSpPr>
          <p:cNvPr id="4" name="Text 2"/>
          <p:cNvSpPr/>
          <p:nvPr/>
        </p:nvSpPr>
        <p:spPr>
          <a:xfrm>
            <a:off x="548640" y="685800"/>
            <a:ext cx="4572000" cy="27432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Defines the controller type</a:t>
            </a:r>
            <a:endParaRPr lang="en-US" sz="1400" dirty="0"/>
          </a:p>
        </p:txBody>
      </p:sp>
      <p:sp>
        <p:nvSpPr>
          <p:cNvPr id="5" name="Shape 3"/>
          <p:cNvSpPr/>
          <p:nvPr/>
        </p:nvSpPr>
        <p:spPr>
          <a:xfrm>
            <a:off x="457200" y="1097280"/>
            <a:ext cx="5029200" cy="2926080"/>
          </a:xfrm>
          <a:prstGeom prst="rect">
            <a:avLst/>
          </a:prstGeom>
          <a:solidFill>
            <a:srgbClr val="1E293B"/>
          </a:solidFill>
          <a:ln/>
        </p:spPr>
      </p:sp>
      <p:sp>
        <p:nvSpPr>
          <p:cNvPr id="6" name="Text 4"/>
          <p:cNvSpPr/>
          <p:nvPr/>
        </p:nvSpPr>
        <p:spPr>
          <a:xfrm>
            <a:off x="594360" y="1234440"/>
            <a:ext cx="4754880" cy="2743200"/>
          </a:xfrm>
          <a:prstGeom prst="rect">
            <a:avLst/>
          </a:prstGeom>
          <a:noFill/>
          <a:ln/>
        </p:spPr>
        <p:txBody>
          <a:bodyPr wrap="square" lIns="0" tIns="0" rIns="0" bIns="0" rtlCol="0" anchor="t"/>
          <a:lstStyle/>
          <a:p>
            <a:pPr indent="0" marL="0">
              <a:buNone/>
            </a:pPr>
            <a:r>
              <a:rPr lang="en-US" sz="1100" dirty="0">
                <a:solidFill>
                  <a:srgbClr val="F8FAFC"/>
                </a:solidFill>
                <a:latin typeface="Consolas" pitchFamily="34" charset="0"/>
                <a:ea typeface="Consolas" pitchFamily="34" charset="-122"/>
                <a:cs typeface="Consolas" pitchFamily="34" charset="-120"/>
              </a:rPr>
              <a:t>apiVersion: gateway.networking.k8s.io/v1</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kind: GatewayClass</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metadata:</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  name: example-gateway-class</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spec:</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  controllerName: example.com/gateway-controller</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  parametersRef:              # Optional</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    group: example.com</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    kind: GatewayConfig</a:t>
            </a:r>
            <a:endParaRPr lang="en-US" sz="1100" dirty="0"/>
          </a:p>
          <a:p>
            <a:pPr indent="0" marL="0">
              <a:buNone/>
            </a:pPr>
            <a:r>
              <a:rPr lang="en-US" sz="1100" dirty="0">
                <a:solidFill>
                  <a:srgbClr val="F8FAFC"/>
                </a:solidFill>
                <a:latin typeface="Consolas" pitchFamily="34" charset="0"/>
                <a:ea typeface="Consolas" pitchFamily="34" charset="-122"/>
                <a:cs typeface="Consolas" pitchFamily="34" charset="-120"/>
              </a:rPr>
              <a:t>    name: cluster-gateway-config</a:t>
            </a:r>
            <a:endParaRPr lang="en-US" sz="1100" dirty="0"/>
          </a:p>
        </p:txBody>
      </p:sp>
      <p:sp>
        <p:nvSpPr>
          <p:cNvPr id="7" name="Text 5"/>
          <p:cNvSpPr/>
          <p:nvPr/>
        </p:nvSpPr>
        <p:spPr>
          <a:xfrm>
            <a:off x="5669280" y="1097280"/>
            <a:ext cx="3200400" cy="36576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Key Fields</a:t>
            </a:r>
            <a:endParaRPr lang="en-US" sz="1600" dirty="0"/>
          </a:p>
        </p:txBody>
      </p:sp>
      <p:sp>
        <p:nvSpPr>
          <p:cNvPr id="8" name="Text 6"/>
          <p:cNvSpPr/>
          <p:nvPr/>
        </p:nvSpPr>
        <p:spPr>
          <a:xfrm>
            <a:off x="5669280" y="1554480"/>
            <a:ext cx="3200400" cy="274320"/>
          </a:xfrm>
          <a:prstGeom prst="rect">
            <a:avLst/>
          </a:prstGeom>
          <a:noFill/>
          <a:ln/>
        </p:spPr>
        <p:txBody>
          <a:bodyPr wrap="square" lIns="0" tIns="0" rIns="0" bIns="0" rtlCol="0" anchor="ctr"/>
          <a:lstStyle/>
          <a:p>
            <a:pPr indent="0" marL="0">
              <a:buNone/>
            </a:pPr>
            <a:r>
              <a:rPr lang="en-US" sz="1200" dirty="0">
                <a:solidFill>
                  <a:srgbClr val="0EA5E9"/>
                </a:solidFill>
                <a:latin typeface="Consolas" pitchFamily="34" charset="0"/>
                <a:ea typeface="Consolas" pitchFamily="34" charset="-122"/>
                <a:cs typeface="Consolas" pitchFamily="34" charset="-120"/>
              </a:rPr>
              <a:t>controllerName</a:t>
            </a:r>
            <a:endParaRPr lang="en-US" sz="1200" dirty="0"/>
          </a:p>
        </p:txBody>
      </p:sp>
      <p:sp>
        <p:nvSpPr>
          <p:cNvPr id="9" name="Text 7"/>
          <p:cNvSpPr/>
          <p:nvPr/>
        </p:nvSpPr>
        <p:spPr>
          <a:xfrm>
            <a:off x="5669280" y="1828800"/>
            <a:ext cx="3200400" cy="45720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Identifies which controller watches this class</a:t>
            </a:r>
            <a:endParaRPr lang="en-US" sz="1100" dirty="0"/>
          </a:p>
        </p:txBody>
      </p:sp>
      <p:sp>
        <p:nvSpPr>
          <p:cNvPr id="10" name="Text 8"/>
          <p:cNvSpPr/>
          <p:nvPr/>
        </p:nvSpPr>
        <p:spPr>
          <a:xfrm>
            <a:off x="5669280" y="2377440"/>
            <a:ext cx="3200400" cy="274320"/>
          </a:xfrm>
          <a:prstGeom prst="rect">
            <a:avLst/>
          </a:prstGeom>
          <a:noFill/>
          <a:ln/>
        </p:spPr>
        <p:txBody>
          <a:bodyPr wrap="square" lIns="0" tIns="0" rIns="0" bIns="0" rtlCol="0" anchor="ctr"/>
          <a:lstStyle/>
          <a:p>
            <a:pPr indent="0" marL="0">
              <a:buNone/>
            </a:pPr>
            <a:r>
              <a:rPr lang="en-US" sz="1200" dirty="0">
                <a:solidFill>
                  <a:srgbClr val="0EA5E9"/>
                </a:solidFill>
                <a:latin typeface="Consolas" pitchFamily="34" charset="0"/>
                <a:ea typeface="Consolas" pitchFamily="34" charset="-122"/>
                <a:cs typeface="Consolas" pitchFamily="34" charset="-120"/>
              </a:rPr>
              <a:t>parametersRef</a:t>
            </a:r>
            <a:endParaRPr lang="en-US" sz="1200" dirty="0"/>
          </a:p>
        </p:txBody>
      </p:sp>
      <p:sp>
        <p:nvSpPr>
          <p:cNvPr id="11" name="Text 9"/>
          <p:cNvSpPr/>
          <p:nvPr/>
        </p:nvSpPr>
        <p:spPr>
          <a:xfrm>
            <a:off x="5669280" y="2651760"/>
            <a:ext cx="3200400" cy="45720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Optional reference to vendor-specific config</a:t>
            </a:r>
            <a:endParaRPr lang="en-US" sz="1100" dirty="0"/>
          </a:p>
        </p:txBody>
      </p:sp>
      <p:sp>
        <p:nvSpPr>
          <p:cNvPr id="12" name="Shape 10"/>
          <p:cNvSpPr/>
          <p:nvPr/>
        </p:nvSpPr>
        <p:spPr>
          <a:xfrm>
            <a:off x="5669280" y="3200400"/>
            <a:ext cx="3017520" cy="822960"/>
          </a:xfrm>
          <a:prstGeom prst="rect">
            <a:avLst/>
          </a:prstGeom>
          <a:solidFill>
            <a:srgbClr val="FEF3C7"/>
          </a:solidFill>
          <a:ln/>
        </p:spPr>
      </p:sp>
      <p:sp>
        <p:nvSpPr>
          <p:cNvPr id="13" name="Text 11"/>
          <p:cNvSpPr/>
          <p:nvPr/>
        </p:nvSpPr>
        <p:spPr>
          <a:xfrm>
            <a:off x="5806440" y="3291840"/>
            <a:ext cx="274320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 Like StorageClass</a:t>
            </a:r>
            <a:endParaRPr lang="en-US" sz="1200" dirty="0"/>
          </a:p>
        </p:txBody>
      </p:sp>
      <p:sp>
        <p:nvSpPr>
          <p:cNvPr id="14" name="Text 12"/>
          <p:cNvSpPr/>
          <p:nvPr/>
        </p:nvSpPr>
        <p:spPr>
          <a:xfrm>
            <a:off x="5806440" y="3566160"/>
            <a:ext cx="2743200" cy="36576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One class per controller type in your cluster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dirty="0">
                <a:solidFill>
                  <a:srgbClr val="1E293B"/>
                </a:solidFill>
                <a:latin typeface="Arial Black" pitchFamily="34" charset="0"/>
                <a:ea typeface="Arial Black" pitchFamily="34" charset="-122"/>
                <a:cs typeface="Arial Black" pitchFamily="34" charset="-120"/>
              </a:rPr>
              <a:t>Gateway</a:t>
            </a:r>
            <a:endParaRPr lang="en-US" sz="2800" dirty="0"/>
          </a:p>
        </p:txBody>
      </p:sp>
      <p:sp>
        <p:nvSpPr>
          <p:cNvPr id="4" name="Text 2"/>
          <p:cNvSpPr/>
          <p:nvPr/>
        </p:nvSpPr>
        <p:spPr>
          <a:xfrm>
            <a:off x="548640" y="685800"/>
            <a:ext cx="4572000" cy="27432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The entry point for traffic</a:t>
            </a:r>
            <a:endParaRPr lang="en-US" sz="1400" dirty="0"/>
          </a:p>
        </p:txBody>
      </p:sp>
      <p:sp>
        <p:nvSpPr>
          <p:cNvPr id="5" name="Shape 3"/>
          <p:cNvSpPr/>
          <p:nvPr/>
        </p:nvSpPr>
        <p:spPr>
          <a:xfrm>
            <a:off x="457200" y="1005840"/>
            <a:ext cx="5029200" cy="3840480"/>
          </a:xfrm>
          <a:prstGeom prst="rect">
            <a:avLst/>
          </a:prstGeom>
          <a:solidFill>
            <a:srgbClr val="1E293B"/>
          </a:solidFill>
          <a:ln/>
        </p:spPr>
      </p:sp>
      <p:sp>
        <p:nvSpPr>
          <p:cNvPr id="6" name="Text 4"/>
          <p:cNvSpPr/>
          <p:nvPr/>
        </p:nvSpPr>
        <p:spPr>
          <a:xfrm>
            <a:off x="594360" y="1097280"/>
            <a:ext cx="4754880" cy="3657600"/>
          </a:xfrm>
          <a:prstGeom prst="rect">
            <a:avLst/>
          </a:prstGeom>
          <a:noFill/>
          <a:ln/>
        </p:spPr>
        <p:txBody>
          <a:bodyPr wrap="square" lIns="0" tIns="0" rIns="0" bIns="0" rtlCol="0" anchor="t"/>
          <a:lstStyle/>
          <a:p>
            <a:pPr indent="0" marL="0">
              <a:buNone/>
            </a:pPr>
            <a:r>
              <a:rPr lang="en-US" sz="1050" dirty="0">
                <a:solidFill>
                  <a:srgbClr val="F8FAFC"/>
                </a:solidFill>
                <a:latin typeface="Consolas" pitchFamily="34" charset="0"/>
                <a:ea typeface="Consolas" pitchFamily="34" charset="-122"/>
                <a:cs typeface="Consolas" pitchFamily="34" charset="-120"/>
              </a:rPr>
              <a:t>apiVersion: gateway.networking.k8s.io/v1</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kind: Gateway</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metadata:</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name: production-gateway</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namespace: gateway-system</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spec:</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gatewayClassName: example-gateway-class</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listeners:</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 name: http</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protocol: HTTP</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port: 80</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hostname: "*.example.com"</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allowedRoutes:</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namespaces:</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from: Selector</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selector:</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matchLabels:</a:t>
            </a:r>
            <a:endParaRPr lang="en-US" sz="1050" dirty="0"/>
          </a:p>
          <a:p>
            <a:pPr indent="0" marL="0">
              <a:buNone/>
            </a:pPr>
            <a:r>
              <a:rPr lang="en-US" sz="1050" dirty="0">
                <a:solidFill>
                  <a:srgbClr val="F8FAFC"/>
                </a:solidFill>
                <a:latin typeface="Consolas" pitchFamily="34" charset="0"/>
                <a:ea typeface="Consolas" pitchFamily="34" charset="-122"/>
                <a:cs typeface="Consolas" pitchFamily="34" charset="-120"/>
              </a:rPr>
              <a:t>            gateway-access: "true"</a:t>
            </a:r>
            <a:endParaRPr lang="en-US" sz="1050" dirty="0"/>
          </a:p>
        </p:txBody>
      </p:sp>
      <p:sp>
        <p:nvSpPr>
          <p:cNvPr id="7" name="Text 5"/>
          <p:cNvSpPr/>
          <p:nvPr/>
        </p:nvSpPr>
        <p:spPr>
          <a:xfrm>
            <a:off x="5669280" y="1005840"/>
            <a:ext cx="3200400" cy="3200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Key Concepts</a:t>
            </a:r>
            <a:endParaRPr lang="en-US" sz="1600" dirty="0"/>
          </a:p>
        </p:txBody>
      </p:sp>
      <p:sp>
        <p:nvSpPr>
          <p:cNvPr id="8" name="Text 6"/>
          <p:cNvSpPr/>
          <p:nvPr/>
        </p:nvSpPr>
        <p:spPr>
          <a:xfrm>
            <a:off x="5669280" y="1371600"/>
            <a:ext cx="3200400" cy="228600"/>
          </a:xfrm>
          <a:prstGeom prst="rect">
            <a:avLst/>
          </a:prstGeom>
          <a:noFill/>
          <a:ln/>
        </p:spPr>
        <p:txBody>
          <a:bodyPr wrap="square" lIns="0" tIns="0" rIns="0" bIns="0" rtlCol="0" anchor="ctr"/>
          <a:lstStyle/>
          <a:p>
            <a:pPr indent="0" marL="0">
              <a:buNone/>
            </a:pPr>
            <a:r>
              <a:rPr lang="en-US" sz="1200" dirty="0">
                <a:solidFill>
                  <a:srgbClr val="0EA5E9"/>
                </a:solidFill>
                <a:latin typeface="Consolas" pitchFamily="34" charset="0"/>
                <a:ea typeface="Consolas" pitchFamily="34" charset="-122"/>
                <a:cs typeface="Consolas" pitchFamily="34" charset="-120"/>
              </a:rPr>
              <a:t>listeners</a:t>
            </a:r>
            <a:endParaRPr lang="en-US" sz="1200" dirty="0"/>
          </a:p>
        </p:txBody>
      </p:sp>
      <p:sp>
        <p:nvSpPr>
          <p:cNvPr id="9" name="Text 7"/>
          <p:cNvSpPr/>
          <p:nvPr/>
        </p:nvSpPr>
        <p:spPr>
          <a:xfrm>
            <a:off x="5669280" y="1600200"/>
            <a:ext cx="320040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Define ports, protocols, and hostnames</a:t>
            </a:r>
            <a:endParaRPr lang="en-US" sz="1100" dirty="0"/>
          </a:p>
        </p:txBody>
      </p:sp>
      <p:sp>
        <p:nvSpPr>
          <p:cNvPr id="10" name="Text 8"/>
          <p:cNvSpPr/>
          <p:nvPr/>
        </p:nvSpPr>
        <p:spPr>
          <a:xfrm>
            <a:off x="5669280" y="2057400"/>
            <a:ext cx="3200400" cy="228600"/>
          </a:xfrm>
          <a:prstGeom prst="rect">
            <a:avLst/>
          </a:prstGeom>
          <a:noFill/>
          <a:ln/>
        </p:spPr>
        <p:txBody>
          <a:bodyPr wrap="square" lIns="0" tIns="0" rIns="0" bIns="0" rtlCol="0" anchor="ctr"/>
          <a:lstStyle/>
          <a:p>
            <a:pPr indent="0" marL="0">
              <a:buNone/>
            </a:pPr>
            <a:r>
              <a:rPr lang="en-US" sz="1200" dirty="0">
                <a:solidFill>
                  <a:srgbClr val="0EA5E9"/>
                </a:solidFill>
                <a:latin typeface="Consolas" pitchFamily="34" charset="0"/>
                <a:ea typeface="Consolas" pitchFamily="34" charset="-122"/>
                <a:cs typeface="Consolas" pitchFamily="34" charset="-120"/>
              </a:rPr>
              <a:t>allowedRoutes</a:t>
            </a:r>
            <a:endParaRPr lang="en-US" sz="1200" dirty="0"/>
          </a:p>
        </p:txBody>
      </p:sp>
      <p:sp>
        <p:nvSpPr>
          <p:cNvPr id="11" name="Text 9"/>
          <p:cNvSpPr/>
          <p:nvPr/>
        </p:nvSpPr>
        <p:spPr>
          <a:xfrm>
            <a:off x="5669280" y="2286000"/>
            <a:ext cx="320040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Control which namespaces can attach Routes</a:t>
            </a:r>
            <a:endParaRPr lang="en-US" sz="1100" dirty="0"/>
          </a:p>
        </p:txBody>
      </p:sp>
      <p:sp>
        <p:nvSpPr>
          <p:cNvPr id="12" name="Text 10"/>
          <p:cNvSpPr/>
          <p:nvPr/>
        </p:nvSpPr>
        <p:spPr>
          <a:xfrm>
            <a:off x="5669280" y="2743200"/>
            <a:ext cx="3200400" cy="228600"/>
          </a:xfrm>
          <a:prstGeom prst="rect">
            <a:avLst/>
          </a:prstGeom>
          <a:noFill/>
          <a:ln/>
        </p:spPr>
        <p:txBody>
          <a:bodyPr wrap="square" lIns="0" tIns="0" rIns="0" bIns="0" rtlCol="0" anchor="ctr"/>
          <a:lstStyle/>
          <a:p>
            <a:pPr indent="0" marL="0">
              <a:buNone/>
            </a:pPr>
            <a:r>
              <a:rPr lang="en-US" sz="1200" dirty="0">
                <a:solidFill>
                  <a:srgbClr val="0EA5E9"/>
                </a:solidFill>
                <a:latin typeface="Consolas" pitchFamily="34" charset="0"/>
                <a:ea typeface="Consolas" pitchFamily="34" charset="-122"/>
                <a:cs typeface="Consolas" pitchFamily="34" charset="-120"/>
              </a:rPr>
              <a:t>hostname</a:t>
            </a:r>
            <a:endParaRPr lang="en-US" sz="1200" dirty="0"/>
          </a:p>
        </p:txBody>
      </p:sp>
      <p:sp>
        <p:nvSpPr>
          <p:cNvPr id="13" name="Text 11"/>
          <p:cNvSpPr/>
          <p:nvPr/>
        </p:nvSpPr>
        <p:spPr>
          <a:xfrm>
            <a:off x="5669280" y="2971800"/>
            <a:ext cx="320040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Wildcards supported (*.example.com)</a:t>
            </a:r>
            <a:endParaRPr lang="en-US" sz="1100" dirty="0"/>
          </a:p>
        </p:txBody>
      </p:sp>
      <p:sp>
        <p:nvSpPr>
          <p:cNvPr id="14" name="Shape 12"/>
          <p:cNvSpPr/>
          <p:nvPr/>
        </p:nvSpPr>
        <p:spPr>
          <a:xfrm>
            <a:off x="5669280" y="3291840"/>
            <a:ext cx="3017520" cy="1005840"/>
          </a:xfrm>
          <a:prstGeom prst="rect">
            <a:avLst/>
          </a:prstGeom>
          <a:solidFill>
            <a:srgbClr val="DCFCE7"/>
          </a:solidFill>
          <a:ln/>
        </p:spPr>
      </p:sp>
      <p:sp>
        <p:nvSpPr>
          <p:cNvPr id="15" name="Text 13"/>
          <p:cNvSpPr/>
          <p:nvPr/>
        </p:nvSpPr>
        <p:spPr>
          <a:xfrm>
            <a:off x="5806440" y="3383280"/>
            <a:ext cx="274320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 Multi-Tenant Security</a:t>
            </a:r>
            <a:endParaRPr lang="en-US" sz="1200" dirty="0"/>
          </a:p>
        </p:txBody>
      </p:sp>
      <p:sp>
        <p:nvSpPr>
          <p:cNvPr id="16" name="Text 14"/>
          <p:cNvSpPr/>
          <p:nvPr/>
        </p:nvSpPr>
        <p:spPr>
          <a:xfrm>
            <a:off x="5806440" y="3657600"/>
            <a:ext cx="2743200" cy="59436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By default, only Routes from the same namespace can attach. Cross-namespace requires explicit allowedRoutes config.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dirty="0">
                <a:solidFill>
                  <a:srgbClr val="1E293B"/>
                </a:solidFill>
                <a:latin typeface="Arial Black" pitchFamily="34" charset="0"/>
                <a:ea typeface="Arial Black" pitchFamily="34" charset="-122"/>
                <a:cs typeface="Arial Black" pitchFamily="34" charset="-120"/>
              </a:rPr>
              <a:t>HTTPRoute</a:t>
            </a:r>
            <a:endParaRPr lang="en-US" sz="2800" dirty="0"/>
          </a:p>
        </p:txBody>
      </p:sp>
      <p:sp>
        <p:nvSpPr>
          <p:cNvPr id="4" name="Text 2"/>
          <p:cNvSpPr/>
          <p:nvPr/>
        </p:nvSpPr>
        <p:spPr>
          <a:xfrm>
            <a:off x="548640" y="685800"/>
            <a:ext cx="4572000" cy="27432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Where routing logic lives</a:t>
            </a:r>
            <a:endParaRPr lang="en-US" sz="1400" dirty="0"/>
          </a:p>
        </p:txBody>
      </p:sp>
      <p:sp>
        <p:nvSpPr>
          <p:cNvPr id="5" name="Shape 3"/>
          <p:cNvSpPr/>
          <p:nvPr/>
        </p:nvSpPr>
        <p:spPr>
          <a:xfrm>
            <a:off x="457200" y="1005840"/>
            <a:ext cx="5029200" cy="3840480"/>
          </a:xfrm>
          <a:prstGeom prst="rect">
            <a:avLst/>
          </a:prstGeom>
          <a:solidFill>
            <a:srgbClr val="1E293B"/>
          </a:solidFill>
          <a:ln/>
        </p:spPr>
      </p:sp>
      <p:sp>
        <p:nvSpPr>
          <p:cNvPr id="6" name="Text 4"/>
          <p:cNvSpPr/>
          <p:nvPr/>
        </p:nvSpPr>
        <p:spPr>
          <a:xfrm>
            <a:off x="594360" y="1097280"/>
            <a:ext cx="4754880" cy="3657600"/>
          </a:xfrm>
          <a:prstGeom prst="rect">
            <a:avLst/>
          </a:prstGeom>
          <a:noFill/>
          <a:ln/>
        </p:spPr>
        <p:txBody>
          <a:bodyPr wrap="square" lIns="0" tIns="0" rIns="0" bIns="0" rtlCol="0" anchor="t"/>
          <a:lstStyle/>
          <a:p>
            <a:pPr indent="0" marL="0">
              <a:buNone/>
            </a:pPr>
            <a:r>
              <a:rPr lang="en-US" sz="1000" dirty="0">
                <a:solidFill>
                  <a:srgbClr val="F8FAFC"/>
                </a:solidFill>
                <a:latin typeface="Consolas" pitchFamily="34" charset="0"/>
                <a:ea typeface="Consolas" pitchFamily="34" charset="-122"/>
                <a:cs typeface="Consolas" pitchFamily="34" charset="-120"/>
              </a:rPr>
              <a:t>apiVersion: gateway.networking.k8s.io/v1</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kind: HTTPRoute</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name: app-routes</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namespace: my-app</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parentRefs:</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 name: production-gateway</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namespace: gateway-system</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hostnames:</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 "api.example.com"</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rules:</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 matches:</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 path:</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type: PathPrefix</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value: /api/v1</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backendRefs:</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 name: api-service</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port: 8080</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weight: 90</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 name: api-service-canary</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port: 8080</a:t>
            </a:r>
            <a:endParaRPr lang="en-US" sz="1000" dirty="0"/>
          </a:p>
          <a:p>
            <a:pPr indent="0" marL="0">
              <a:buNone/>
            </a:pPr>
            <a:r>
              <a:rPr lang="en-US" sz="1000" dirty="0">
                <a:solidFill>
                  <a:srgbClr val="F8FAFC"/>
                </a:solidFill>
                <a:latin typeface="Consolas" pitchFamily="34" charset="0"/>
                <a:ea typeface="Consolas" pitchFamily="34" charset="-122"/>
                <a:cs typeface="Consolas" pitchFamily="34" charset="-120"/>
              </a:rPr>
              <a:t>      weight: 10</a:t>
            </a:r>
            <a:endParaRPr lang="en-US" sz="1000" dirty="0"/>
          </a:p>
        </p:txBody>
      </p:sp>
      <p:sp>
        <p:nvSpPr>
          <p:cNvPr id="7" name="Text 5"/>
          <p:cNvSpPr/>
          <p:nvPr/>
        </p:nvSpPr>
        <p:spPr>
          <a:xfrm>
            <a:off x="5669280" y="1005840"/>
            <a:ext cx="3200400" cy="3200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Routing Features</a:t>
            </a:r>
            <a:endParaRPr lang="en-US" sz="1600" dirty="0"/>
          </a:p>
        </p:txBody>
      </p:sp>
      <p:pic>
        <p:nvPicPr>
          <p:cNvPr id="8" name="Image 0" descr="preencoded.png">    </p:cNvPr>
          <p:cNvPicPr>
            <a:picLocks noChangeAspect="1"/>
          </p:cNvPicPr>
          <p:nvPr/>
        </p:nvPicPr>
        <p:blipFill>
          <a:blip r:embed="rId1"/>
          <a:stretch>
            <a:fillRect/>
          </a:stretch>
        </p:blipFill>
        <p:spPr>
          <a:xfrm>
            <a:off x="5669280" y="1371600"/>
            <a:ext cx="228600" cy="228600"/>
          </a:xfrm>
          <a:prstGeom prst="rect">
            <a:avLst/>
          </a:prstGeom>
        </p:spPr>
      </p:pic>
      <p:sp>
        <p:nvSpPr>
          <p:cNvPr id="9" name="Text 6"/>
          <p:cNvSpPr/>
          <p:nvPr/>
        </p:nvSpPr>
        <p:spPr>
          <a:xfrm>
            <a:off x="5989320" y="1371600"/>
            <a:ext cx="28346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Path matching (Exact, PathPrefix, RegExp)</a:t>
            </a:r>
            <a:endParaRPr lang="en-US" sz="1100" dirty="0"/>
          </a:p>
        </p:txBody>
      </p:sp>
      <p:pic>
        <p:nvPicPr>
          <p:cNvPr id="10" name="Image 1" descr="preencoded.png">    </p:cNvPr>
          <p:cNvPicPr>
            <a:picLocks noChangeAspect="1"/>
          </p:cNvPicPr>
          <p:nvPr/>
        </p:nvPicPr>
        <p:blipFill>
          <a:blip r:embed="rId2"/>
          <a:stretch>
            <a:fillRect/>
          </a:stretch>
        </p:blipFill>
        <p:spPr>
          <a:xfrm>
            <a:off x="5669280" y="1737360"/>
            <a:ext cx="228600" cy="228600"/>
          </a:xfrm>
          <a:prstGeom prst="rect">
            <a:avLst/>
          </a:prstGeom>
        </p:spPr>
      </p:pic>
      <p:sp>
        <p:nvSpPr>
          <p:cNvPr id="11" name="Text 7"/>
          <p:cNvSpPr/>
          <p:nvPr/>
        </p:nvSpPr>
        <p:spPr>
          <a:xfrm>
            <a:off x="5989320" y="1737360"/>
            <a:ext cx="28346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Header-based routing</a:t>
            </a:r>
            <a:endParaRPr lang="en-US" sz="1100" dirty="0"/>
          </a:p>
        </p:txBody>
      </p:sp>
      <p:pic>
        <p:nvPicPr>
          <p:cNvPr id="12" name="Image 2" descr="preencoded.png">    </p:cNvPr>
          <p:cNvPicPr>
            <a:picLocks noChangeAspect="1"/>
          </p:cNvPicPr>
          <p:nvPr/>
        </p:nvPicPr>
        <p:blipFill>
          <a:blip r:embed="rId3"/>
          <a:stretch>
            <a:fillRect/>
          </a:stretch>
        </p:blipFill>
        <p:spPr>
          <a:xfrm>
            <a:off x="5669280" y="2103120"/>
            <a:ext cx="228600" cy="228600"/>
          </a:xfrm>
          <a:prstGeom prst="rect">
            <a:avLst/>
          </a:prstGeom>
        </p:spPr>
      </p:pic>
      <p:sp>
        <p:nvSpPr>
          <p:cNvPr id="13" name="Text 8"/>
          <p:cNvSpPr/>
          <p:nvPr/>
        </p:nvSpPr>
        <p:spPr>
          <a:xfrm>
            <a:off x="5989320" y="2103120"/>
            <a:ext cx="28346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Query parameter matching</a:t>
            </a:r>
            <a:endParaRPr lang="en-US" sz="1100" dirty="0"/>
          </a:p>
        </p:txBody>
      </p:sp>
      <p:pic>
        <p:nvPicPr>
          <p:cNvPr id="14" name="Image 3" descr="preencoded.png">    </p:cNvPr>
          <p:cNvPicPr>
            <a:picLocks noChangeAspect="1"/>
          </p:cNvPicPr>
          <p:nvPr/>
        </p:nvPicPr>
        <p:blipFill>
          <a:blip r:embed="rId4"/>
          <a:stretch>
            <a:fillRect/>
          </a:stretch>
        </p:blipFill>
        <p:spPr>
          <a:xfrm>
            <a:off x="5669280" y="2468880"/>
            <a:ext cx="228600" cy="228600"/>
          </a:xfrm>
          <a:prstGeom prst="rect">
            <a:avLst/>
          </a:prstGeom>
        </p:spPr>
      </p:pic>
      <p:sp>
        <p:nvSpPr>
          <p:cNvPr id="15" name="Text 9"/>
          <p:cNvSpPr/>
          <p:nvPr/>
        </p:nvSpPr>
        <p:spPr>
          <a:xfrm>
            <a:off x="5989320" y="2468880"/>
            <a:ext cx="28346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Traffic weighting (canary)</a:t>
            </a:r>
            <a:endParaRPr lang="en-US" sz="1100" dirty="0"/>
          </a:p>
        </p:txBody>
      </p:sp>
      <p:pic>
        <p:nvPicPr>
          <p:cNvPr id="16" name="Image 4" descr="preencoded.png">    </p:cNvPr>
          <p:cNvPicPr>
            <a:picLocks noChangeAspect="1"/>
          </p:cNvPicPr>
          <p:nvPr/>
        </p:nvPicPr>
        <p:blipFill>
          <a:blip r:embed="rId5"/>
          <a:stretch>
            <a:fillRect/>
          </a:stretch>
        </p:blipFill>
        <p:spPr>
          <a:xfrm>
            <a:off x="5669280" y="2834640"/>
            <a:ext cx="228600" cy="228600"/>
          </a:xfrm>
          <a:prstGeom prst="rect">
            <a:avLst/>
          </a:prstGeom>
        </p:spPr>
      </p:pic>
      <p:sp>
        <p:nvSpPr>
          <p:cNvPr id="17" name="Text 10"/>
          <p:cNvSpPr/>
          <p:nvPr/>
        </p:nvSpPr>
        <p:spPr>
          <a:xfrm>
            <a:off x="5989320" y="2834640"/>
            <a:ext cx="28346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Request/Response modification</a:t>
            </a:r>
            <a:endParaRPr lang="en-US" sz="1100" dirty="0"/>
          </a:p>
        </p:txBody>
      </p:sp>
      <p:pic>
        <p:nvPicPr>
          <p:cNvPr id="18" name="Image 5" descr="preencoded.png">    </p:cNvPr>
          <p:cNvPicPr>
            <a:picLocks noChangeAspect="1"/>
          </p:cNvPicPr>
          <p:nvPr/>
        </p:nvPicPr>
        <p:blipFill>
          <a:blip r:embed="rId6"/>
          <a:stretch>
            <a:fillRect/>
          </a:stretch>
        </p:blipFill>
        <p:spPr>
          <a:xfrm>
            <a:off x="5669280" y="3200400"/>
            <a:ext cx="228600" cy="228600"/>
          </a:xfrm>
          <a:prstGeom prst="rect">
            <a:avLst/>
          </a:prstGeom>
        </p:spPr>
      </p:pic>
      <p:sp>
        <p:nvSpPr>
          <p:cNvPr id="19" name="Text 11"/>
          <p:cNvSpPr/>
          <p:nvPr/>
        </p:nvSpPr>
        <p:spPr>
          <a:xfrm>
            <a:off x="5989320" y="3200400"/>
            <a:ext cx="28346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Timeouts and retries</a:t>
            </a:r>
            <a:endParaRPr lang="en-US" sz="1100" dirty="0"/>
          </a:p>
        </p:txBody>
      </p:sp>
      <p:sp>
        <p:nvSpPr>
          <p:cNvPr id="20" name="Shape 12"/>
          <p:cNvSpPr/>
          <p:nvPr/>
        </p:nvSpPr>
        <p:spPr>
          <a:xfrm>
            <a:off x="5669280" y="3657600"/>
            <a:ext cx="3017520" cy="731520"/>
          </a:xfrm>
          <a:prstGeom prst="rect">
            <a:avLst/>
          </a:prstGeom>
          <a:solidFill>
            <a:srgbClr val="FEF3C7"/>
          </a:solidFill>
          <a:ln/>
        </p:spPr>
      </p:sp>
      <p:sp>
        <p:nvSpPr>
          <p:cNvPr id="21" name="Text 13"/>
          <p:cNvSpPr/>
          <p:nvPr/>
        </p:nvSpPr>
        <p:spPr>
          <a:xfrm>
            <a:off x="5806440" y="3749040"/>
            <a:ext cx="2743200" cy="22860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 Native Canary!</a:t>
            </a:r>
            <a:endParaRPr lang="en-US" sz="1200" dirty="0"/>
          </a:p>
        </p:txBody>
      </p:sp>
      <p:sp>
        <p:nvSpPr>
          <p:cNvPr id="22" name="Text 14"/>
          <p:cNvSpPr/>
          <p:nvPr/>
        </p:nvSpPr>
        <p:spPr>
          <a:xfrm>
            <a:off x="5806440" y="3977640"/>
            <a:ext cx="2743200" cy="36576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Traffic weights are built-in, no Flagger needed for basic canary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Request Flow</a:t>
            </a:r>
            <a:endParaRPr lang="en-US" sz="3200" dirty="0"/>
          </a:p>
        </p:txBody>
      </p:sp>
      <p:sp>
        <p:nvSpPr>
          <p:cNvPr id="4" name="Shape 2"/>
          <p:cNvSpPr/>
          <p:nvPr/>
        </p:nvSpPr>
        <p:spPr>
          <a:xfrm>
            <a:off x="548640" y="1005840"/>
            <a:ext cx="411480" cy="411480"/>
          </a:xfrm>
          <a:prstGeom prst="ellipse">
            <a:avLst/>
          </a:prstGeom>
          <a:solidFill>
            <a:srgbClr val="0EA5E9"/>
          </a:solidFill>
          <a:ln/>
        </p:spPr>
      </p:sp>
      <p:sp>
        <p:nvSpPr>
          <p:cNvPr id="5" name="Text 3"/>
          <p:cNvSpPr/>
          <p:nvPr/>
        </p:nvSpPr>
        <p:spPr>
          <a:xfrm>
            <a:off x="548640" y="1051560"/>
            <a:ext cx="411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097280" y="960120"/>
            <a:ext cx="3657600" cy="320040"/>
          </a:xfrm>
          <a:prstGeom prst="rect">
            <a:avLst/>
          </a:prstGeom>
          <a:noFill/>
          <a:ln/>
        </p:spPr>
        <p:txBody>
          <a:bodyPr wrap="square" lIns="0" tIns="0" rIns="0" bIns="0" rtlCol="0" anchor="ctr"/>
          <a:lstStyle/>
          <a:p>
            <a:pPr indent="0" marL="0">
              <a:buNone/>
            </a:pPr>
            <a:r>
              <a:rPr lang="en-US" sz="1500" b="1" dirty="0">
                <a:solidFill>
                  <a:srgbClr val="F8FAFC"/>
                </a:solidFill>
                <a:latin typeface="Arial" pitchFamily="34" charset="0"/>
                <a:ea typeface="Arial" pitchFamily="34" charset="-122"/>
                <a:cs typeface="Arial" pitchFamily="34" charset="-120"/>
              </a:rPr>
              <a:t>Client sends HTTP request</a:t>
            </a:r>
            <a:endParaRPr lang="en-US" sz="1500" dirty="0"/>
          </a:p>
        </p:txBody>
      </p:sp>
      <p:sp>
        <p:nvSpPr>
          <p:cNvPr id="7" name="Text 5"/>
          <p:cNvSpPr/>
          <p:nvPr/>
        </p:nvSpPr>
        <p:spPr>
          <a:xfrm>
            <a:off x="1097280" y="1280160"/>
            <a:ext cx="3657600" cy="27432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http://api.example.com/users</a:t>
            </a:r>
            <a:endParaRPr lang="en-US" sz="1200" dirty="0"/>
          </a:p>
        </p:txBody>
      </p:sp>
      <p:sp>
        <p:nvSpPr>
          <p:cNvPr id="8" name="Shape 6"/>
          <p:cNvSpPr/>
          <p:nvPr/>
        </p:nvSpPr>
        <p:spPr>
          <a:xfrm>
            <a:off x="749808" y="1463040"/>
            <a:ext cx="0" cy="274320"/>
          </a:xfrm>
          <a:prstGeom prst="line">
            <a:avLst/>
          </a:prstGeom>
          <a:noFill/>
          <a:ln w="25400">
            <a:solidFill>
              <a:srgbClr val="0EA5E9"/>
            </a:solidFill>
            <a:prstDash val="solid"/>
          </a:ln>
        </p:spPr>
      </p:sp>
      <p:sp>
        <p:nvSpPr>
          <p:cNvPr id="9" name="Shape 7"/>
          <p:cNvSpPr/>
          <p:nvPr/>
        </p:nvSpPr>
        <p:spPr>
          <a:xfrm>
            <a:off x="548640" y="1783080"/>
            <a:ext cx="411480" cy="411480"/>
          </a:xfrm>
          <a:prstGeom prst="ellipse">
            <a:avLst/>
          </a:prstGeom>
          <a:solidFill>
            <a:srgbClr val="0EA5E9"/>
          </a:solidFill>
          <a:ln/>
        </p:spPr>
      </p:sp>
      <p:sp>
        <p:nvSpPr>
          <p:cNvPr id="10" name="Text 8"/>
          <p:cNvSpPr/>
          <p:nvPr/>
        </p:nvSpPr>
        <p:spPr>
          <a:xfrm>
            <a:off x="548640" y="1828800"/>
            <a:ext cx="411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1097280" y="1737360"/>
            <a:ext cx="3657600" cy="320040"/>
          </a:xfrm>
          <a:prstGeom prst="rect">
            <a:avLst/>
          </a:prstGeom>
          <a:noFill/>
          <a:ln/>
        </p:spPr>
        <p:txBody>
          <a:bodyPr wrap="square" lIns="0" tIns="0" rIns="0" bIns="0" rtlCol="0" anchor="ctr"/>
          <a:lstStyle/>
          <a:p>
            <a:pPr indent="0" marL="0">
              <a:buNone/>
            </a:pPr>
            <a:r>
              <a:rPr lang="en-US" sz="1500" b="1" dirty="0">
                <a:solidFill>
                  <a:srgbClr val="F8FAFC"/>
                </a:solidFill>
                <a:latin typeface="Arial" pitchFamily="34" charset="0"/>
                <a:ea typeface="Arial" pitchFamily="34" charset="-122"/>
                <a:cs typeface="Arial" pitchFamily="34" charset="-120"/>
              </a:rPr>
              <a:t>DNS resolves to Gateway IP</a:t>
            </a:r>
            <a:endParaRPr lang="en-US" sz="1500" dirty="0"/>
          </a:p>
        </p:txBody>
      </p:sp>
      <p:sp>
        <p:nvSpPr>
          <p:cNvPr id="12" name="Text 10"/>
          <p:cNvSpPr/>
          <p:nvPr/>
        </p:nvSpPr>
        <p:spPr>
          <a:xfrm>
            <a:off x="1097280" y="2057400"/>
            <a:ext cx="3657600" cy="27432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Gateway's external IP address</a:t>
            </a:r>
            <a:endParaRPr lang="en-US" sz="1200" dirty="0"/>
          </a:p>
        </p:txBody>
      </p:sp>
      <p:sp>
        <p:nvSpPr>
          <p:cNvPr id="13" name="Shape 11"/>
          <p:cNvSpPr/>
          <p:nvPr/>
        </p:nvSpPr>
        <p:spPr>
          <a:xfrm>
            <a:off x="749808" y="2240280"/>
            <a:ext cx="0" cy="274320"/>
          </a:xfrm>
          <a:prstGeom prst="line">
            <a:avLst/>
          </a:prstGeom>
          <a:noFill/>
          <a:ln w="25400">
            <a:solidFill>
              <a:srgbClr val="0EA5E9"/>
            </a:solidFill>
            <a:prstDash val="solid"/>
          </a:ln>
        </p:spPr>
      </p:sp>
      <p:sp>
        <p:nvSpPr>
          <p:cNvPr id="14" name="Shape 12"/>
          <p:cNvSpPr/>
          <p:nvPr/>
        </p:nvSpPr>
        <p:spPr>
          <a:xfrm>
            <a:off x="548640" y="2560320"/>
            <a:ext cx="411480" cy="411480"/>
          </a:xfrm>
          <a:prstGeom prst="ellipse">
            <a:avLst/>
          </a:prstGeom>
          <a:solidFill>
            <a:srgbClr val="0EA5E9"/>
          </a:solidFill>
          <a:ln/>
        </p:spPr>
      </p:sp>
      <p:sp>
        <p:nvSpPr>
          <p:cNvPr id="15" name="Text 13"/>
          <p:cNvSpPr/>
          <p:nvPr/>
        </p:nvSpPr>
        <p:spPr>
          <a:xfrm>
            <a:off x="548640" y="2606040"/>
            <a:ext cx="411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1097280" y="2514600"/>
            <a:ext cx="3657600" cy="320040"/>
          </a:xfrm>
          <a:prstGeom prst="rect">
            <a:avLst/>
          </a:prstGeom>
          <a:noFill/>
          <a:ln/>
        </p:spPr>
        <p:txBody>
          <a:bodyPr wrap="square" lIns="0" tIns="0" rIns="0" bIns="0" rtlCol="0" anchor="ctr"/>
          <a:lstStyle/>
          <a:p>
            <a:pPr indent="0" marL="0">
              <a:buNone/>
            </a:pPr>
            <a:r>
              <a:rPr lang="en-US" sz="1500" b="1" dirty="0">
                <a:solidFill>
                  <a:srgbClr val="F8FAFC"/>
                </a:solidFill>
                <a:latin typeface="Arial" pitchFamily="34" charset="0"/>
                <a:ea typeface="Arial" pitchFamily="34" charset="-122"/>
                <a:cs typeface="Arial" pitchFamily="34" charset="-120"/>
              </a:rPr>
              <a:t>Gateway listener receives request</a:t>
            </a:r>
            <a:endParaRPr lang="en-US" sz="1500" dirty="0"/>
          </a:p>
        </p:txBody>
      </p:sp>
      <p:sp>
        <p:nvSpPr>
          <p:cNvPr id="17" name="Text 15"/>
          <p:cNvSpPr/>
          <p:nvPr/>
        </p:nvSpPr>
        <p:spPr>
          <a:xfrm>
            <a:off x="1097280" y="2834640"/>
            <a:ext cx="3657600" cy="27432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Matches hostname and port</a:t>
            </a:r>
            <a:endParaRPr lang="en-US" sz="1200" dirty="0"/>
          </a:p>
        </p:txBody>
      </p:sp>
      <p:sp>
        <p:nvSpPr>
          <p:cNvPr id="18" name="Shape 16"/>
          <p:cNvSpPr/>
          <p:nvPr/>
        </p:nvSpPr>
        <p:spPr>
          <a:xfrm>
            <a:off x="749808" y="3017520"/>
            <a:ext cx="0" cy="274320"/>
          </a:xfrm>
          <a:prstGeom prst="line">
            <a:avLst/>
          </a:prstGeom>
          <a:noFill/>
          <a:ln w="25400">
            <a:solidFill>
              <a:srgbClr val="0EA5E9"/>
            </a:solidFill>
            <a:prstDash val="solid"/>
          </a:ln>
        </p:spPr>
      </p:sp>
      <p:sp>
        <p:nvSpPr>
          <p:cNvPr id="19" name="Shape 17"/>
          <p:cNvSpPr/>
          <p:nvPr/>
        </p:nvSpPr>
        <p:spPr>
          <a:xfrm>
            <a:off x="548640" y="3337560"/>
            <a:ext cx="411480" cy="411480"/>
          </a:xfrm>
          <a:prstGeom prst="ellipse">
            <a:avLst/>
          </a:prstGeom>
          <a:solidFill>
            <a:srgbClr val="0EA5E9"/>
          </a:solidFill>
          <a:ln/>
        </p:spPr>
      </p:sp>
      <p:sp>
        <p:nvSpPr>
          <p:cNvPr id="20" name="Text 18"/>
          <p:cNvSpPr/>
          <p:nvPr/>
        </p:nvSpPr>
        <p:spPr>
          <a:xfrm>
            <a:off x="548640" y="3383280"/>
            <a:ext cx="411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p:nvPr/>
        </p:nvSpPr>
        <p:spPr>
          <a:xfrm>
            <a:off x="1097280" y="3291840"/>
            <a:ext cx="3657600" cy="320040"/>
          </a:xfrm>
          <a:prstGeom prst="rect">
            <a:avLst/>
          </a:prstGeom>
          <a:noFill/>
          <a:ln/>
        </p:spPr>
        <p:txBody>
          <a:bodyPr wrap="square" lIns="0" tIns="0" rIns="0" bIns="0" rtlCol="0" anchor="ctr"/>
          <a:lstStyle/>
          <a:p>
            <a:pPr indent="0" marL="0">
              <a:buNone/>
            </a:pPr>
            <a:r>
              <a:rPr lang="en-US" sz="1500" b="1" dirty="0">
                <a:solidFill>
                  <a:srgbClr val="F8FAFC"/>
                </a:solidFill>
                <a:latin typeface="Arial" pitchFamily="34" charset="0"/>
                <a:ea typeface="Arial" pitchFamily="34" charset="-122"/>
                <a:cs typeface="Arial" pitchFamily="34" charset="-120"/>
              </a:rPr>
              <a:t>HTTPRoute rules evaluated</a:t>
            </a:r>
            <a:endParaRPr lang="en-US" sz="1500" dirty="0"/>
          </a:p>
        </p:txBody>
      </p:sp>
      <p:sp>
        <p:nvSpPr>
          <p:cNvPr id="22" name="Text 20"/>
          <p:cNvSpPr/>
          <p:nvPr/>
        </p:nvSpPr>
        <p:spPr>
          <a:xfrm>
            <a:off x="1097280" y="3611880"/>
            <a:ext cx="3657600" cy="27432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Path, headers, query params</a:t>
            </a:r>
            <a:endParaRPr lang="en-US" sz="1200" dirty="0"/>
          </a:p>
        </p:txBody>
      </p:sp>
      <p:sp>
        <p:nvSpPr>
          <p:cNvPr id="23" name="Shape 21"/>
          <p:cNvSpPr/>
          <p:nvPr/>
        </p:nvSpPr>
        <p:spPr>
          <a:xfrm>
            <a:off x="749808" y="3794760"/>
            <a:ext cx="0" cy="274320"/>
          </a:xfrm>
          <a:prstGeom prst="line">
            <a:avLst/>
          </a:prstGeom>
          <a:noFill/>
          <a:ln w="25400">
            <a:solidFill>
              <a:srgbClr val="0EA5E9"/>
            </a:solidFill>
            <a:prstDash val="solid"/>
          </a:ln>
        </p:spPr>
      </p:sp>
      <p:sp>
        <p:nvSpPr>
          <p:cNvPr id="24" name="Shape 22"/>
          <p:cNvSpPr/>
          <p:nvPr/>
        </p:nvSpPr>
        <p:spPr>
          <a:xfrm>
            <a:off x="548640" y="4114800"/>
            <a:ext cx="411480" cy="411480"/>
          </a:xfrm>
          <a:prstGeom prst="ellipse">
            <a:avLst/>
          </a:prstGeom>
          <a:solidFill>
            <a:srgbClr val="0EA5E9"/>
          </a:solidFill>
          <a:ln/>
        </p:spPr>
      </p:sp>
      <p:sp>
        <p:nvSpPr>
          <p:cNvPr id="25" name="Text 23"/>
          <p:cNvSpPr/>
          <p:nvPr/>
        </p:nvSpPr>
        <p:spPr>
          <a:xfrm>
            <a:off x="548640" y="4160520"/>
            <a:ext cx="411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6" name="Text 24"/>
          <p:cNvSpPr/>
          <p:nvPr/>
        </p:nvSpPr>
        <p:spPr>
          <a:xfrm>
            <a:off x="1097280" y="4069080"/>
            <a:ext cx="3657600" cy="320040"/>
          </a:xfrm>
          <a:prstGeom prst="rect">
            <a:avLst/>
          </a:prstGeom>
          <a:noFill/>
          <a:ln/>
        </p:spPr>
        <p:txBody>
          <a:bodyPr wrap="square" lIns="0" tIns="0" rIns="0" bIns="0" rtlCol="0" anchor="ctr"/>
          <a:lstStyle/>
          <a:p>
            <a:pPr indent="0" marL="0">
              <a:buNone/>
            </a:pPr>
            <a:r>
              <a:rPr lang="en-US" sz="1500" b="1" dirty="0">
                <a:solidFill>
                  <a:srgbClr val="F8FAFC"/>
                </a:solidFill>
                <a:latin typeface="Arial" pitchFamily="34" charset="0"/>
                <a:ea typeface="Arial" pitchFamily="34" charset="-122"/>
                <a:cs typeface="Arial" pitchFamily="34" charset="-120"/>
              </a:rPr>
              <a:t>Request forwarded to backend</a:t>
            </a:r>
            <a:endParaRPr lang="en-US" sz="1500" dirty="0"/>
          </a:p>
        </p:txBody>
      </p:sp>
      <p:sp>
        <p:nvSpPr>
          <p:cNvPr id="27" name="Text 25"/>
          <p:cNvSpPr/>
          <p:nvPr/>
        </p:nvSpPr>
        <p:spPr>
          <a:xfrm>
            <a:off x="1097280" y="4389120"/>
            <a:ext cx="3657600" cy="27432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With optional modifications</a:t>
            </a:r>
            <a:endParaRPr lang="en-US" sz="1200" dirty="0"/>
          </a:p>
        </p:txBody>
      </p:sp>
      <p:sp>
        <p:nvSpPr>
          <p:cNvPr id="28" name="Shape 26"/>
          <p:cNvSpPr/>
          <p:nvPr/>
        </p:nvSpPr>
        <p:spPr>
          <a:xfrm>
            <a:off x="5029200" y="914400"/>
            <a:ext cx="3840480" cy="3474720"/>
          </a:xfrm>
          <a:prstGeom prst="rect">
            <a:avLst/>
          </a:prstGeom>
          <a:solidFill>
            <a:srgbClr val="1E293B"/>
          </a:solidFill>
          <a:ln/>
        </p:spPr>
      </p:sp>
      <p:sp>
        <p:nvSpPr>
          <p:cNvPr id="29" name="Text 27"/>
          <p:cNvSpPr/>
          <p:nvPr/>
        </p:nvSpPr>
        <p:spPr>
          <a:xfrm>
            <a:off x="5212080" y="1051560"/>
            <a:ext cx="3474720" cy="32004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At the Gateway</a:t>
            </a:r>
            <a:endParaRPr lang="en-US" sz="1400" dirty="0"/>
          </a:p>
        </p:txBody>
      </p:sp>
      <p:sp>
        <p:nvSpPr>
          <p:cNvPr id="30" name="Text 28"/>
          <p:cNvSpPr/>
          <p:nvPr/>
        </p:nvSpPr>
        <p:spPr>
          <a:xfrm>
            <a:off x="5212080" y="1417320"/>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TLS termination (if HTTPS)</a:t>
            </a:r>
            <a:endParaRPr lang="en-US" sz="1100" dirty="0"/>
          </a:p>
        </p:txBody>
      </p:sp>
      <p:sp>
        <p:nvSpPr>
          <p:cNvPr id="31" name="Text 29"/>
          <p:cNvSpPr/>
          <p:nvPr/>
        </p:nvSpPr>
        <p:spPr>
          <a:xfrm>
            <a:off x="5212080" y="1709928"/>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Host header matching</a:t>
            </a:r>
            <a:endParaRPr lang="en-US" sz="1100" dirty="0"/>
          </a:p>
        </p:txBody>
      </p:sp>
      <p:sp>
        <p:nvSpPr>
          <p:cNvPr id="32" name="Text 30"/>
          <p:cNvSpPr/>
          <p:nvPr/>
        </p:nvSpPr>
        <p:spPr>
          <a:xfrm>
            <a:off x="5212080" y="2002536"/>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Port/protocol validation</a:t>
            </a:r>
            <a:endParaRPr lang="en-US" sz="1100" dirty="0"/>
          </a:p>
        </p:txBody>
      </p:sp>
      <p:sp>
        <p:nvSpPr>
          <p:cNvPr id="33" name="Text 31"/>
          <p:cNvSpPr/>
          <p:nvPr/>
        </p:nvSpPr>
        <p:spPr>
          <a:xfrm>
            <a:off x="5212080" y="2295144"/>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Rate limiting (if configured)</a:t>
            </a:r>
            <a:endParaRPr lang="en-US" sz="1100" dirty="0"/>
          </a:p>
        </p:txBody>
      </p:sp>
      <p:sp>
        <p:nvSpPr>
          <p:cNvPr id="34" name="Text 32"/>
          <p:cNvSpPr/>
          <p:nvPr/>
        </p:nvSpPr>
        <p:spPr>
          <a:xfrm>
            <a:off x="5212080" y="2587752"/>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Authentication policies</a:t>
            </a:r>
            <a:endParaRPr lang="en-US" sz="1100" dirty="0"/>
          </a:p>
        </p:txBody>
      </p:sp>
      <p:sp>
        <p:nvSpPr>
          <p:cNvPr id="35" name="Text 33"/>
          <p:cNvSpPr/>
          <p:nvPr/>
        </p:nvSpPr>
        <p:spPr>
          <a:xfrm>
            <a:off x="5212080" y="2926080"/>
            <a:ext cx="3474720" cy="32004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At the Route</a:t>
            </a:r>
            <a:endParaRPr lang="en-US" sz="1400" dirty="0"/>
          </a:p>
        </p:txBody>
      </p:sp>
      <p:sp>
        <p:nvSpPr>
          <p:cNvPr id="36" name="Text 34"/>
          <p:cNvSpPr/>
          <p:nvPr/>
        </p:nvSpPr>
        <p:spPr>
          <a:xfrm>
            <a:off x="5212080" y="3291840"/>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Path matching &amp; rewriting</a:t>
            </a:r>
            <a:endParaRPr lang="en-US" sz="1100" dirty="0"/>
          </a:p>
        </p:txBody>
      </p:sp>
      <p:sp>
        <p:nvSpPr>
          <p:cNvPr id="37" name="Text 35"/>
          <p:cNvSpPr/>
          <p:nvPr/>
        </p:nvSpPr>
        <p:spPr>
          <a:xfrm>
            <a:off x="5212080" y="3584448"/>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Header modification</a:t>
            </a:r>
            <a:endParaRPr lang="en-US" sz="1100" dirty="0"/>
          </a:p>
        </p:txBody>
      </p:sp>
      <p:sp>
        <p:nvSpPr>
          <p:cNvPr id="38" name="Text 36"/>
          <p:cNvSpPr/>
          <p:nvPr/>
        </p:nvSpPr>
        <p:spPr>
          <a:xfrm>
            <a:off x="5212080" y="3877056"/>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Traffic splitting (weights)</a:t>
            </a:r>
            <a:endParaRPr lang="en-US" sz="1100" dirty="0"/>
          </a:p>
        </p:txBody>
      </p:sp>
      <p:sp>
        <p:nvSpPr>
          <p:cNvPr id="39" name="Text 37"/>
          <p:cNvSpPr/>
          <p:nvPr/>
        </p:nvSpPr>
        <p:spPr>
          <a:xfrm>
            <a:off x="5212080" y="4169664"/>
            <a:ext cx="3474720" cy="27432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 Backend selection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8229600" cy="548640"/>
          </a:xfrm>
          <a:prstGeom prst="rect">
            <a:avLst/>
          </a:prstGeom>
          <a:noFill/>
          <a:ln/>
        </p:spPr>
        <p:txBody>
          <a:bodyPr wrap="square" lIns="0" tIns="0" rIns="0" bIns="0" rtlCol="0" anchor="ctr"/>
          <a:lstStyle/>
          <a:p>
            <a:pPr indent="0" marL="0">
              <a:buNone/>
            </a:pPr>
            <a:r>
              <a:rPr lang="en-US" sz="3200" dirty="0">
                <a:solidFill>
                  <a:srgbClr val="1E293B"/>
                </a:solidFill>
                <a:latin typeface="Arial Black" pitchFamily="34" charset="0"/>
                <a:ea typeface="Arial Black" pitchFamily="34" charset="-122"/>
                <a:cs typeface="Arial Black" pitchFamily="34" charset="-120"/>
              </a:rPr>
              <a:t>Key Features</a:t>
            </a:r>
            <a:endParaRPr lang="en-US" sz="3200" dirty="0"/>
          </a:p>
        </p:txBody>
      </p:sp>
      <p:sp>
        <p:nvSpPr>
          <p:cNvPr id="4" name="Shape 2"/>
          <p:cNvSpPr/>
          <p:nvPr/>
        </p:nvSpPr>
        <p:spPr>
          <a:xfrm>
            <a:off x="457200" y="914400"/>
            <a:ext cx="4114800" cy="1920240"/>
          </a:xfrm>
          <a:prstGeom prst="rect">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594360" y="1051560"/>
            <a:ext cx="365760" cy="365760"/>
          </a:xfrm>
          <a:prstGeom prst="rect">
            <a:avLst/>
          </a:prstGeom>
        </p:spPr>
      </p:pic>
      <p:sp>
        <p:nvSpPr>
          <p:cNvPr id="6" name="Text 3"/>
          <p:cNvSpPr/>
          <p:nvPr/>
        </p:nvSpPr>
        <p:spPr>
          <a:xfrm>
            <a:off x="1051560" y="1097280"/>
            <a:ext cx="338328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Advanced Routing</a:t>
            </a:r>
            <a:endParaRPr lang="en-US" sz="1400" dirty="0"/>
          </a:p>
        </p:txBody>
      </p:sp>
      <p:sp>
        <p:nvSpPr>
          <p:cNvPr id="7" name="Text 4"/>
          <p:cNvSpPr/>
          <p:nvPr/>
        </p:nvSpPr>
        <p:spPr>
          <a:xfrm>
            <a:off x="640080" y="1508760"/>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Header-based matching</a:t>
            </a:r>
            <a:endParaRPr lang="en-US" sz="1100" dirty="0"/>
          </a:p>
        </p:txBody>
      </p:sp>
      <p:sp>
        <p:nvSpPr>
          <p:cNvPr id="8" name="Text 5"/>
          <p:cNvSpPr/>
          <p:nvPr/>
        </p:nvSpPr>
        <p:spPr>
          <a:xfrm>
            <a:off x="640080" y="1801368"/>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Path rewriting</a:t>
            </a:r>
            <a:endParaRPr lang="en-US" sz="1100" dirty="0"/>
          </a:p>
        </p:txBody>
      </p:sp>
      <p:sp>
        <p:nvSpPr>
          <p:cNvPr id="9" name="Text 6"/>
          <p:cNvSpPr/>
          <p:nvPr/>
        </p:nvSpPr>
        <p:spPr>
          <a:xfrm>
            <a:off x="640080" y="2093976"/>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Query param matching</a:t>
            </a:r>
            <a:endParaRPr lang="en-US" sz="1100" dirty="0"/>
          </a:p>
        </p:txBody>
      </p:sp>
      <p:sp>
        <p:nvSpPr>
          <p:cNvPr id="10" name="Text 7"/>
          <p:cNvSpPr/>
          <p:nvPr/>
        </p:nvSpPr>
        <p:spPr>
          <a:xfrm>
            <a:off x="640080" y="2386584"/>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Regex support</a:t>
            </a:r>
            <a:endParaRPr lang="en-US" sz="1100" dirty="0"/>
          </a:p>
        </p:txBody>
      </p:sp>
      <p:sp>
        <p:nvSpPr>
          <p:cNvPr id="11" name="Shape 8"/>
          <p:cNvSpPr/>
          <p:nvPr/>
        </p:nvSpPr>
        <p:spPr>
          <a:xfrm>
            <a:off x="4754880" y="914400"/>
            <a:ext cx="4114800" cy="1920240"/>
          </a:xfrm>
          <a:prstGeom prst="rect">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4892040" y="1051560"/>
            <a:ext cx="365760" cy="365760"/>
          </a:xfrm>
          <a:prstGeom prst="rect">
            <a:avLst/>
          </a:prstGeom>
        </p:spPr>
      </p:pic>
      <p:sp>
        <p:nvSpPr>
          <p:cNvPr id="13" name="Text 9"/>
          <p:cNvSpPr/>
          <p:nvPr/>
        </p:nvSpPr>
        <p:spPr>
          <a:xfrm>
            <a:off x="5349240" y="1097280"/>
            <a:ext cx="338328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Traffic Management</a:t>
            </a:r>
            <a:endParaRPr lang="en-US" sz="1400" dirty="0"/>
          </a:p>
        </p:txBody>
      </p:sp>
      <p:sp>
        <p:nvSpPr>
          <p:cNvPr id="14" name="Text 10"/>
          <p:cNvSpPr/>
          <p:nvPr/>
        </p:nvSpPr>
        <p:spPr>
          <a:xfrm>
            <a:off x="4937760" y="1508760"/>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Weighted backends</a:t>
            </a:r>
            <a:endParaRPr lang="en-US" sz="1100" dirty="0"/>
          </a:p>
        </p:txBody>
      </p:sp>
      <p:sp>
        <p:nvSpPr>
          <p:cNvPr id="15" name="Text 11"/>
          <p:cNvSpPr/>
          <p:nvPr/>
        </p:nvSpPr>
        <p:spPr>
          <a:xfrm>
            <a:off x="4937760" y="1801368"/>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Request mirroring</a:t>
            </a:r>
            <a:endParaRPr lang="en-US" sz="1100" dirty="0"/>
          </a:p>
        </p:txBody>
      </p:sp>
      <p:sp>
        <p:nvSpPr>
          <p:cNvPr id="16" name="Text 12"/>
          <p:cNvSpPr/>
          <p:nvPr/>
        </p:nvSpPr>
        <p:spPr>
          <a:xfrm>
            <a:off x="4937760" y="2093976"/>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Canary deployments</a:t>
            </a:r>
            <a:endParaRPr lang="en-US" sz="1100" dirty="0"/>
          </a:p>
        </p:txBody>
      </p:sp>
      <p:sp>
        <p:nvSpPr>
          <p:cNvPr id="17" name="Text 13"/>
          <p:cNvSpPr/>
          <p:nvPr/>
        </p:nvSpPr>
        <p:spPr>
          <a:xfrm>
            <a:off x="4937760" y="2386584"/>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Blue-green releases</a:t>
            </a:r>
            <a:endParaRPr lang="en-US" sz="1100" dirty="0"/>
          </a:p>
        </p:txBody>
      </p:sp>
      <p:sp>
        <p:nvSpPr>
          <p:cNvPr id="18" name="Shape 14"/>
          <p:cNvSpPr/>
          <p:nvPr/>
        </p:nvSpPr>
        <p:spPr>
          <a:xfrm>
            <a:off x="457200" y="2926080"/>
            <a:ext cx="4114800" cy="1920240"/>
          </a:xfrm>
          <a:prstGeom prst="rect">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594360" y="3063240"/>
            <a:ext cx="365760" cy="365760"/>
          </a:xfrm>
          <a:prstGeom prst="rect">
            <a:avLst/>
          </a:prstGeom>
        </p:spPr>
      </p:pic>
      <p:sp>
        <p:nvSpPr>
          <p:cNvPr id="20" name="Text 15"/>
          <p:cNvSpPr/>
          <p:nvPr/>
        </p:nvSpPr>
        <p:spPr>
          <a:xfrm>
            <a:off x="1051560" y="3108960"/>
            <a:ext cx="338328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Security</a:t>
            </a:r>
            <a:endParaRPr lang="en-US" sz="1400" dirty="0"/>
          </a:p>
        </p:txBody>
      </p:sp>
      <p:sp>
        <p:nvSpPr>
          <p:cNvPr id="21" name="Text 16"/>
          <p:cNvSpPr/>
          <p:nvPr/>
        </p:nvSpPr>
        <p:spPr>
          <a:xfrm>
            <a:off x="640080" y="3520440"/>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TLS termination</a:t>
            </a:r>
            <a:endParaRPr lang="en-US" sz="1100" dirty="0"/>
          </a:p>
        </p:txBody>
      </p:sp>
      <p:sp>
        <p:nvSpPr>
          <p:cNvPr id="22" name="Text 17"/>
          <p:cNvSpPr/>
          <p:nvPr/>
        </p:nvSpPr>
        <p:spPr>
          <a:xfrm>
            <a:off x="640080" y="3813048"/>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Certificate management</a:t>
            </a:r>
            <a:endParaRPr lang="en-US" sz="1100" dirty="0"/>
          </a:p>
        </p:txBody>
      </p:sp>
      <p:sp>
        <p:nvSpPr>
          <p:cNvPr id="23" name="Text 18"/>
          <p:cNvSpPr/>
          <p:nvPr/>
        </p:nvSpPr>
        <p:spPr>
          <a:xfrm>
            <a:off x="640080" y="4105656"/>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Cross-namespace policies</a:t>
            </a:r>
            <a:endParaRPr lang="en-US" sz="1100" dirty="0"/>
          </a:p>
        </p:txBody>
      </p:sp>
      <p:sp>
        <p:nvSpPr>
          <p:cNvPr id="24" name="Text 19"/>
          <p:cNvSpPr/>
          <p:nvPr/>
        </p:nvSpPr>
        <p:spPr>
          <a:xfrm>
            <a:off x="640080" y="4398264"/>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mTLS support*</a:t>
            </a:r>
            <a:endParaRPr lang="en-US" sz="1100" dirty="0"/>
          </a:p>
        </p:txBody>
      </p:sp>
      <p:sp>
        <p:nvSpPr>
          <p:cNvPr id="25" name="Shape 20"/>
          <p:cNvSpPr/>
          <p:nvPr/>
        </p:nvSpPr>
        <p:spPr>
          <a:xfrm>
            <a:off x="4754880" y="2926080"/>
            <a:ext cx="4114800" cy="1920240"/>
          </a:xfrm>
          <a:prstGeom prst="rect">
            <a:avLst/>
          </a:prstGeom>
          <a:solidFill>
            <a:srgbClr val="FFFFFF"/>
          </a:solidFill>
          <a:ln/>
        </p:spPr>
      </p:sp>
      <p:pic>
        <p:nvPicPr>
          <p:cNvPr id="26" name="Image 3" descr="preencoded.png">    </p:cNvPr>
          <p:cNvPicPr>
            <a:picLocks noChangeAspect="1"/>
          </p:cNvPicPr>
          <p:nvPr/>
        </p:nvPicPr>
        <p:blipFill>
          <a:blip r:embed="rId4"/>
          <a:stretch>
            <a:fillRect/>
          </a:stretch>
        </p:blipFill>
        <p:spPr>
          <a:xfrm>
            <a:off x="4892040" y="3063240"/>
            <a:ext cx="365760" cy="365760"/>
          </a:xfrm>
          <a:prstGeom prst="rect">
            <a:avLst/>
          </a:prstGeom>
        </p:spPr>
      </p:pic>
      <p:sp>
        <p:nvSpPr>
          <p:cNvPr id="27" name="Text 21"/>
          <p:cNvSpPr/>
          <p:nvPr/>
        </p:nvSpPr>
        <p:spPr>
          <a:xfrm>
            <a:off x="5349240" y="3108960"/>
            <a:ext cx="338328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Extensibility</a:t>
            </a:r>
            <a:endParaRPr lang="en-US" sz="1400" dirty="0"/>
          </a:p>
        </p:txBody>
      </p:sp>
      <p:sp>
        <p:nvSpPr>
          <p:cNvPr id="28" name="Text 22"/>
          <p:cNvSpPr/>
          <p:nvPr/>
        </p:nvSpPr>
        <p:spPr>
          <a:xfrm>
            <a:off x="4937760" y="3520440"/>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Custom policies</a:t>
            </a:r>
            <a:endParaRPr lang="en-US" sz="1100" dirty="0"/>
          </a:p>
        </p:txBody>
      </p:sp>
      <p:sp>
        <p:nvSpPr>
          <p:cNvPr id="29" name="Text 23"/>
          <p:cNvSpPr/>
          <p:nvPr/>
        </p:nvSpPr>
        <p:spPr>
          <a:xfrm>
            <a:off x="4937760" y="3813048"/>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Vendor extensions</a:t>
            </a:r>
            <a:endParaRPr lang="en-US" sz="1100" dirty="0"/>
          </a:p>
        </p:txBody>
      </p:sp>
      <p:sp>
        <p:nvSpPr>
          <p:cNvPr id="30" name="Text 24"/>
          <p:cNvSpPr/>
          <p:nvPr/>
        </p:nvSpPr>
        <p:spPr>
          <a:xfrm>
            <a:off x="4937760" y="4105656"/>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Filter chains</a:t>
            </a:r>
            <a:endParaRPr lang="en-US" sz="1100" dirty="0"/>
          </a:p>
        </p:txBody>
      </p:sp>
      <p:sp>
        <p:nvSpPr>
          <p:cNvPr id="31" name="Text 25"/>
          <p:cNvSpPr/>
          <p:nvPr/>
        </p:nvSpPr>
        <p:spPr>
          <a:xfrm>
            <a:off x="4937760" y="4398264"/>
            <a:ext cx="374904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Plugin support</a:t>
            </a:r>
            <a:endParaRPr lang="en-US" sz="1100" dirty="0"/>
          </a:p>
        </p:txBody>
      </p:sp>
      <p:sp>
        <p:nvSpPr>
          <p:cNvPr id="32" name="Text 26"/>
          <p:cNvSpPr/>
          <p:nvPr/>
        </p:nvSpPr>
        <p:spPr>
          <a:xfrm>
            <a:off x="457200" y="4892040"/>
            <a:ext cx="8229600" cy="18288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 mTLS support varies by implementation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Gateway API vs Ingress</a:t>
            </a:r>
            <a:endParaRPr lang="en-US" sz="3200" dirty="0"/>
          </a:p>
        </p:txBody>
      </p:sp>
      <p:sp>
        <p:nvSpPr>
          <p:cNvPr id="4" name="Shape 2"/>
          <p:cNvSpPr/>
          <p:nvPr/>
        </p:nvSpPr>
        <p:spPr>
          <a:xfrm>
            <a:off x="457200" y="868680"/>
            <a:ext cx="8229600" cy="457200"/>
          </a:xfrm>
          <a:prstGeom prst="rect">
            <a:avLst/>
          </a:prstGeom>
          <a:solidFill>
            <a:srgbClr val="0EA5E9"/>
          </a:solidFill>
          <a:ln/>
        </p:spPr>
      </p:sp>
      <p:sp>
        <p:nvSpPr>
          <p:cNvPr id="5" name="Text 3"/>
          <p:cNvSpPr/>
          <p:nvPr/>
        </p:nvSpPr>
        <p:spPr>
          <a:xfrm>
            <a:off x="548640" y="914400"/>
            <a:ext cx="21031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Aspect</a:t>
            </a:r>
            <a:endParaRPr lang="en-US" sz="1300" dirty="0"/>
          </a:p>
        </p:txBody>
      </p:sp>
      <p:sp>
        <p:nvSpPr>
          <p:cNvPr id="6" name="Text 4"/>
          <p:cNvSpPr/>
          <p:nvPr/>
        </p:nvSpPr>
        <p:spPr>
          <a:xfrm>
            <a:off x="2651760" y="914400"/>
            <a:ext cx="283464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Ingress</a:t>
            </a:r>
            <a:endParaRPr lang="en-US" sz="1300" dirty="0"/>
          </a:p>
        </p:txBody>
      </p:sp>
      <p:sp>
        <p:nvSpPr>
          <p:cNvPr id="7" name="Text 5"/>
          <p:cNvSpPr/>
          <p:nvPr/>
        </p:nvSpPr>
        <p:spPr>
          <a:xfrm>
            <a:off x="5486400" y="914400"/>
            <a:ext cx="310896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Gateway API</a:t>
            </a:r>
            <a:endParaRPr lang="en-US" sz="1300" dirty="0"/>
          </a:p>
        </p:txBody>
      </p:sp>
      <p:sp>
        <p:nvSpPr>
          <p:cNvPr id="8" name="Shape 6"/>
          <p:cNvSpPr/>
          <p:nvPr/>
        </p:nvSpPr>
        <p:spPr>
          <a:xfrm>
            <a:off x="457200" y="1371600"/>
            <a:ext cx="8229600" cy="457200"/>
          </a:xfrm>
          <a:prstGeom prst="rect">
            <a:avLst/>
          </a:prstGeom>
          <a:solidFill>
            <a:srgbClr val="1E293B"/>
          </a:solidFill>
          <a:ln/>
        </p:spPr>
      </p:sp>
      <p:sp>
        <p:nvSpPr>
          <p:cNvPr id="9" name="Text 7"/>
          <p:cNvSpPr/>
          <p:nvPr/>
        </p:nvSpPr>
        <p:spPr>
          <a:xfrm>
            <a:off x="548640" y="1417320"/>
            <a:ext cx="2103120" cy="36576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Architecture</a:t>
            </a:r>
            <a:endParaRPr lang="en-US" sz="1100" dirty="0"/>
          </a:p>
        </p:txBody>
      </p:sp>
      <p:sp>
        <p:nvSpPr>
          <p:cNvPr id="10" name="Text 8"/>
          <p:cNvSpPr/>
          <p:nvPr/>
        </p:nvSpPr>
        <p:spPr>
          <a:xfrm>
            <a:off x="2651760" y="1417320"/>
            <a:ext cx="283464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Single resource</a:t>
            </a:r>
            <a:endParaRPr lang="en-US" sz="1100" dirty="0"/>
          </a:p>
        </p:txBody>
      </p:sp>
      <p:sp>
        <p:nvSpPr>
          <p:cNvPr id="11" name="Text 9"/>
          <p:cNvSpPr/>
          <p:nvPr/>
        </p:nvSpPr>
        <p:spPr>
          <a:xfrm>
            <a:off x="5486400" y="1417320"/>
            <a:ext cx="3108960" cy="365760"/>
          </a:xfrm>
          <a:prstGeom prst="rect">
            <a:avLst/>
          </a:prstGeom>
          <a:noFill/>
          <a:ln/>
        </p:spPr>
        <p:txBody>
          <a:bodyPr wrap="square" lIns="0" tIns="0" rIns="0" bIns="0" rtlCol="0" anchor="ctr"/>
          <a:lstStyle/>
          <a:p>
            <a:pPr indent="0" marL="0">
              <a:buNone/>
            </a:pPr>
            <a:r>
              <a:rPr lang="en-US" sz="1100" dirty="0">
                <a:solidFill>
                  <a:srgbClr val="38BDF8"/>
                </a:solidFill>
                <a:latin typeface="Arial" pitchFamily="34" charset="0"/>
                <a:ea typeface="Arial" pitchFamily="34" charset="-122"/>
                <a:cs typeface="Arial" pitchFamily="34" charset="-120"/>
              </a:rPr>
              <a:t>Multi-resource, role-based</a:t>
            </a:r>
            <a:endParaRPr lang="en-US" sz="1100" dirty="0"/>
          </a:p>
        </p:txBody>
      </p:sp>
      <p:sp>
        <p:nvSpPr>
          <p:cNvPr id="12" name="Shape 10"/>
          <p:cNvSpPr/>
          <p:nvPr/>
        </p:nvSpPr>
        <p:spPr>
          <a:xfrm>
            <a:off x="457200" y="1828800"/>
            <a:ext cx="8229600" cy="457200"/>
          </a:xfrm>
          <a:prstGeom prst="rect">
            <a:avLst/>
          </a:prstGeom>
          <a:solidFill>
            <a:srgbClr val="1E3A5F"/>
          </a:solidFill>
          <a:ln/>
        </p:spPr>
      </p:sp>
      <p:sp>
        <p:nvSpPr>
          <p:cNvPr id="13" name="Text 11"/>
          <p:cNvSpPr/>
          <p:nvPr/>
        </p:nvSpPr>
        <p:spPr>
          <a:xfrm>
            <a:off x="548640" y="1874520"/>
            <a:ext cx="2103120" cy="36576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Protocol Support</a:t>
            </a:r>
            <a:endParaRPr lang="en-US" sz="1100" dirty="0"/>
          </a:p>
        </p:txBody>
      </p:sp>
      <p:sp>
        <p:nvSpPr>
          <p:cNvPr id="14" name="Text 12"/>
          <p:cNvSpPr/>
          <p:nvPr/>
        </p:nvSpPr>
        <p:spPr>
          <a:xfrm>
            <a:off x="2651760" y="1874520"/>
            <a:ext cx="283464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HTTP/HTTPS only</a:t>
            </a:r>
            <a:endParaRPr lang="en-US" sz="1100" dirty="0"/>
          </a:p>
        </p:txBody>
      </p:sp>
      <p:sp>
        <p:nvSpPr>
          <p:cNvPr id="15" name="Text 13"/>
          <p:cNvSpPr/>
          <p:nvPr/>
        </p:nvSpPr>
        <p:spPr>
          <a:xfrm>
            <a:off x="5486400" y="1874520"/>
            <a:ext cx="3108960" cy="365760"/>
          </a:xfrm>
          <a:prstGeom prst="rect">
            <a:avLst/>
          </a:prstGeom>
          <a:noFill/>
          <a:ln/>
        </p:spPr>
        <p:txBody>
          <a:bodyPr wrap="square" lIns="0" tIns="0" rIns="0" bIns="0" rtlCol="0" anchor="ctr"/>
          <a:lstStyle/>
          <a:p>
            <a:pPr indent="0" marL="0">
              <a:buNone/>
            </a:pPr>
            <a:r>
              <a:rPr lang="en-US" sz="1100" dirty="0">
                <a:solidFill>
                  <a:srgbClr val="38BDF8"/>
                </a:solidFill>
                <a:latin typeface="Arial" pitchFamily="34" charset="0"/>
                <a:ea typeface="Arial" pitchFamily="34" charset="-122"/>
                <a:cs typeface="Arial" pitchFamily="34" charset="-120"/>
              </a:rPr>
              <a:t>HTTP, gRPC, TCP, UDP, TLS</a:t>
            </a:r>
            <a:endParaRPr lang="en-US" sz="1100" dirty="0"/>
          </a:p>
        </p:txBody>
      </p:sp>
      <p:sp>
        <p:nvSpPr>
          <p:cNvPr id="16" name="Shape 14"/>
          <p:cNvSpPr/>
          <p:nvPr/>
        </p:nvSpPr>
        <p:spPr>
          <a:xfrm>
            <a:off x="457200" y="2286000"/>
            <a:ext cx="8229600" cy="457200"/>
          </a:xfrm>
          <a:prstGeom prst="rect">
            <a:avLst/>
          </a:prstGeom>
          <a:solidFill>
            <a:srgbClr val="1E293B"/>
          </a:solidFill>
          <a:ln/>
        </p:spPr>
      </p:sp>
      <p:sp>
        <p:nvSpPr>
          <p:cNvPr id="17" name="Text 15"/>
          <p:cNvSpPr/>
          <p:nvPr/>
        </p:nvSpPr>
        <p:spPr>
          <a:xfrm>
            <a:off x="548640" y="2331720"/>
            <a:ext cx="2103120" cy="36576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Advanced Features</a:t>
            </a:r>
            <a:endParaRPr lang="en-US" sz="1100" dirty="0"/>
          </a:p>
        </p:txBody>
      </p:sp>
      <p:sp>
        <p:nvSpPr>
          <p:cNvPr id="18" name="Text 16"/>
          <p:cNvSpPr/>
          <p:nvPr/>
        </p:nvSpPr>
        <p:spPr>
          <a:xfrm>
            <a:off x="2651760" y="2331720"/>
            <a:ext cx="283464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Via annotations (non-portable)</a:t>
            </a:r>
            <a:endParaRPr lang="en-US" sz="1100" dirty="0"/>
          </a:p>
        </p:txBody>
      </p:sp>
      <p:sp>
        <p:nvSpPr>
          <p:cNvPr id="19" name="Text 17"/>
          <p:cNvSpPr/>
          <p:nvPr/>
        </p:nvSpPr>
        <p:spPr>
          <a:xfrm>
            <a:off x="5486400" y="2331720"/>
            <a:ext cx="3108960" cy="365760"/>
          </a:xfrm>
          <a:prstGeom prst="rect">
            <a:avLst/>
          </a:prstGeom>
          <a:noFill/>
          <a:ln/>
        </p:spPr>
        <p:txBody>
          <a:bodyPr wrap="square" lIns="0" tIns="0" rIns="0" bIns="0" rtlCol="0" anchor="ctr"/>
          <a:lstStyle/>
          <a:p>
            <a:pPr indent="0" marL="0">
              <a:buNone/>
            </a:pPr>
            <a:r>
              <a:rPr lang="en-US" sz="1100" dirty="0">
                <a:solidFill>
                  <a:srgbClr val="38BDF8"/>
                </a:solidFill>
                <a:latin typeface="Arial" pitchFamily="34" charset="0"/>
                <a:ea typeface="Arial" pitchFamily="34" charset="-122"/>
                <a:cs typeface="Arial" pitchFamily="34" charset="-120"/>
              </a:rPr>
              <a:t>Native API support</a:t>
            </a:r>
            <a:endParaRPr lang="en-US" sz="1100" dirty="0"/>
          </a:p>
        </p:txBody>
      </p:sp>
      <p:sp>
        <p:nvSpPr>
          <p:cNvPr id="20" name="Shape 18"/>
          <p:cNvSpPr/>
          <p:nvPr/>
        </p:nvSpPr>
        <p:spPr>
          <a:xfrm>
            <a:off x="457200" y="2743200"/>
            <a:ext cx="8229600" cy="457200"/>
          </a:xfrm>
          <a:prstGeom prst="rect">
            <a:avLst/>
          </a:prstGeom>
          <a:solidFill>
            <a:srgbClr val="1E3A5F"/>
          </a:solidFill>
          <a:ln/>
        </p:spPr>
      </p:sp>
      <p:sp>
        <p:nvSpPr>
          <p:cNvPr id="21" name="Text 19"/>
          <p:cNvSpPr/>
          <p:nvPr/>
        </p:nvSpPr>
        <p:spPr>
          <a:xfrm>
            <a:off x="548640" y="2788920"/>
            <a:ext cx="2103120" cy="36576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Traffic Splitting</a:t>
            </a:r>
            <a:endParaRPr lang="en-US" sz="1100" dirty="0"/>
          </a:p>
        </p:txBody>
      </p:sp>
      <p:sp>
        <p:nvSpPr>
          <p:cNvPr id="22" name="Text 20"/>
          <p:cNvSpPr/>
          <p:nvPr/>
        </p:nvSpPr>
        <p:spPr>
          <a:xfrm>
            <a:off x="2651760" y="2788920"/>
            <a:ext cx="283464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Vendor-specific</a:t>
            </a:r>
            <a:endParaRPr lang="en-US" sz="1100" dirty="0"/>
          </a:p>
        </p:txBody>
      </p:sp>
      <p:sp>
        <p:nvSpPr>
          <p:cNvPr id="23" name="Text 21"/>
          <p:cNvSpPr/>
          <p:nvPr/>
        </p:nvSpPr>
        <p:spPr>
          <a:xfrm>
            <a:off x="5486400" y="2788920"/>
            <a:ext cx="3108960" cy="365760"/>
          </a:xfrm>
          <a:prstGeom prst="rect">
            <a:avLst/>
          </a:prstGeom>
          <a:noFill/>
          <a:ln/>
        </p:spPr>
        <p:txBody>
          <a:bodyPr wrap="square" lIns="0" tIns="0" rIns="0" bIns="0" rtlCol="0" anchor="ctr"/>
          <a:lstStyle/>
          <a:p>
            <a:pPr indent="0" marL="0">
              <a:buNone/>
            </a:pPr>
            <a:r>
              <a:rPr lang="en-US" sz="1100" dirty="0">
                <a:solidFill>
                  <a:srgbClr val="38BDF8"/>
                </a:solidFill>
                <a:latin typeface="Arial" pitchFamily="34" charset="0"/>
                <a:ea typeface="Arial" pitchFamily="34" charset="-122"/>
                <a:cs typeface="Arial" pitchFamily="34" charset="-120"/>
              </a:rPr>
              <a:t>Built-in weights</a:t>
            </a:r>
            <a:endParaRPr lang="en-US" sz="1100" dirty="0"/>
          </a:p>
        </p:txBody>
      </p:sp>
      <p:sp>
        <p:nvSpPr>
          <p:cNvPr id="24" name="Shape 22"/>
          <p:cNvSpPr/>
          <p:nvPr/>
        </p:nvSpPr>
        <p:spPr>
          <a:xfrm>
            <a:off x="457200" y="3200400"/>
            <a:ext cx="8229600" cy="457200"/>
          </a:xfrm>
          <a:prstGeom prst="rect">
            <a:avLst/>
          </a:prstGeom>
          <a:solidFill>
            <a:srgbClr val="1E293B"/>
          </a:solidFill>
          <a:ln/>
        </p:spPr>
      </p:sp>
      <p:sp>
        <p:nvSpPr>
          <p:cNvPr id="25" name="Text 23"/>
          <p:cNvSpPr/>
          <p:nvPr/>
        </p:nvSpPr>
        <p:spPr>
          <a:xfrm>
            <a:off x="548640" y="3246120"/>
            <a:ext cx="2103120" cy="36576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Multi-tenancy</a:t>
            </a:r>
            <a:endParaRPr lang="en-US" sz="1100" dirty="0"/>
          </a:p>
        </p:txBody>
      </p:sp>
      <p:sp>
        <p:nvSpPr>
          <p:cNvPr id="26" name="Text 24"/>
          <p:cNvSpPr/>
          <p:nvPr/>
        </p:nvSpPr>
        <p:spPr>
          <a:xfrm>
            <a:off x="2651760" y="3246120"/>
            <a:ext cx="283464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Limited, conflicts possible</a:t>
            </a:r>
            <a:endParaRPr lang="en-US" sz="1100" dirty="0"/>
          </a:p>
        </p:txBody>
      </p:sp>
      <p:sp>
        <p:nvSpPr>
          <p:cNvPr id="27" name="Text 25"/>
          <p:cNvSpPr/>
          <p:nvPr/>
        </p:nvSpPr>
        <p:spPr>
          <a:xfrm>
            <a:off x="5486400" y="3246120"/>
            <a:ext cx="3108960" cy="365760"/>
          </a:xfrm>
          <a:prstGeom prst="rect">
            <a:avLst/>
          </a:prstGeom>
          <a:noFill/>
          <a:ln/>
        </p:spPr>
        <p:txBody>
          <a:bodyPr wrap="square" lIns="0" tIns="0" rIns="0" bIns="0" rtlCol="0" anchor="ctr"/>
          <a:lstStyle/>
          <a:p>
            <a:pPr indent="0" marL="0">
              <a:buNone/>
            </a:pPr>
            <a:r>
              <a:rPr lang="en-US" sz="1100" dirty="0">
                <a:solidFill>
                  <a:srgbClr val="38BDF8"/>
                </a:solidFill>
                <a:latin typeface="Arial" pitchFamily="34" charset="0"/>
                <a:ea typeface="Arial" pitchFamily="34" charset="-122"/>
                <a:cs typeface="Arial" pitchFamily="34" charset="-120"/>
              </a:rPr>
              <a:t>Designed for multi-tenant</a:t>
            </a:r>
            <a:endParaRPr lang="en-US" sz="1100" dirty="0"/>
          </a:p>
        </p:txBody>
      </p:sp>
      <p:sp>
        <p:nvSpPr>
          <p:cNvPr id="28" name="Shape 26"/>
          <p:cNvSpPr/>
          <p:nvPr/>
        </p:nvSpPr>
        <p:spPr>
          <a:xfrm>
            <a:off x="457200" y="3657600"/>
            <a:ext cx="8229600" cy="457200"/>
          </a:xfrm>
          <a:prstGeom prst="rect">
            <a:avLst/>
          </a:prstGeom>
          <a:solidFill>
            <a:srgbClr val="1E3A5F"/>
          </a:solidFill>
          <a:ln/>
        </p:spPr>
      </p:sp>
      <p:sp>
        <p:nvSpPr>
          <p:cNvPr id="29" name="Text 27"/>
          <p:cNvSpPr/>
          <p:nvPr/>
        </p:nvSpPr>
        <p:spPr>
          <a:xfrm>
            <a:off x="548640" y="3703320"/>
            <a:ext cx="2103120" cy="36576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Portability</a:t>
            </a:r>
            <a:endParaRPr lang="en-US" sz="1100" dirty="0"/>
          </a:p>
        </p:txBody>
      </p:sp>
      <p:sp>
        <p:nvSpPr>
          <p:cNvPr id="30" name="Text 28"/>
          <p:cNvSpPr/>
          <p:nvPr/>
        </p:nvSpPr>
        <p:spPr>
          <a:xfrm>
            <a:off x="2651760" y="3703320"/>
            <a:ext cx="283464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Vendor lock-in risk</a:t>
            </a:r>
            <a:endParaRPr lang="en-US" sz="1100" dirty="0"/>
          </a:p>
        </p:txBody>
      </p:sp>
      <p:sp>
        <p:nvSpPr>
          <p:cNvPr id="31" name="Text 29"/>
          <p:cNvSpPr/>
          <p:nvPr/>
        </p:nvSpPr>
        <p:spPr>
          <a:xfrm>
            <a:off x="5486400" y="3703320"/>
            <a:ext cx="3108960" cy="365760"/>
          </a:xfrm>
          <a:prstGeom prst="rect">
            <a:avLst/>
          </a:prstGeom>
          <a:noFill/>
          <a:ln/>
        </p:spPr>
        <p:txBody>
          <a:bodyPr wrap="square" lIns="0" tIns="0" rIns="0" bIns="0" rtlCol="0" anchor="ctr"/>
          <a:lstStyle/>
          <a:p>
            <a:pPr indent="0" marL="0">
              <a:buNone/>
            </a:pPr>
            <a:r>
              <a:rPr lang="en-US" sz="1100" dirty="0">
                <a:solidFill>
                  <a:srgbClr val="38BDF8"/>
                </a:solidFill>
                <a:latin typeface="Arial" pitchFamily="34" charset="0"/>
                <a:ea typeface="Arial" pitchFamily="34" charset="-122"/>
                <a:cs typeface="Arial" pitchFamily="34" charset="-120"/>
              </a:rPr>
              <a:t>Standardized across impls</a:t>
            </a:r>
            <a:endParaRPr lang="en-US" sz="1100" dirty="0"/>
          </a:p>
        </p:txBody>
      </p:sp>
      <p:sp>
        <p:nvSpPr>
          <p:cNvPr id="32" name="Shape 30"/>
          <p:cNvSpPr/>
          <p:nvPr/>
        </p:nvSpPr>
        <p:spPr>
          <a:xfrm>
            <a:off x="457200" y="4114800"/>
            <a:ext cx="8229600" cy="457200"/>
          </a:xfrm>
          <a:prstGeom prst="rect">
            <a:avLst/>
          </a:prstGeom>
          <a:solidFill>
            <a:srgbClr val="1E293B"/>
          </a:solidFill>
          <a:ln/>
        </p:spPr>
      </p:sp>
      <p:sp>
        <p:nvSpPr>
          <p:cNvPr id="33" name="Text 31"/>
          <p:cNvSpPr/>
          <p:nvPr/>
        </p:nvSpPr>
        <p:spPr>
          <a:xfrm>
            <a:off x="548640" y="4160520"/>
            <a:ext cx="2103120" cy="36576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Status</a:t>
            </a:r>
            <a:endParaRPr lang="en-US" sz="1100" dirty="0"/>
          </a:p>
        </p:txBody>
      </p:sp>
      <p:sp>
        <p:nvSpPr>
          <p:cNvPr id="34" name="Text 32"/>
          <p:cNvSpPr/>
          <p:nvPr/>
        </p:nvSpPr>
        <p:spPr>
          <a:xfrm>
            <a:off x="2651760" y="4160520"/>
            <a:ext cx="2834640" cy="36576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Maintenance mode</a:t>
            </a:r>
            <a:endParaRPr lang="en-US" sz="1100" dirty="0"/>
          </a:p>
        </p:txBody>
      </p:sp>
      <p:sp>
        <p:nvSpPr>
          <p:cNvPr id="35" name="Text 33"/>
          <p:cNvSpPr/>
          <p:nvPr/>
        </p:nvSpPr>
        <p:spPr>
          <a:xfrm>
            <a:off x="5486400" y="4160520"/>
            <a:ext cx="3108960" cy="365760"/>
          </a:xfrm>
          <a:prstGeom prst="rect">
            <a:avLst/>
          </a:prstGeom>
          <a:noFill/>
          <a:ln/>
        </p:spPr>
        <p:txBody>
          <a:bodyPr wrap="square" lIns="0" tIns="0" rIns="0" bIns="0" rtlCol="0" anchor="ctr"/>
          <a:lstStyle/>
          <a:p>
            <a:pPr indent="0" marL="0">
              <a:buNone/>
            </a:pPr>
            <a:r>
              <a:rPr lang="en-US" sz="1100" dirty="0">
                <a:solidFill>
                  <a:srgbClr val="38BDF8"/>
                </a:solidFill>
                <a:latin typeface="Arial" pitchFamily="34" charset="0"/>
                <a:ea typeface="Arial" pitchFamily="34" charset="-122"/>
                <a:cs typeface="Arial" pitchFamily="34" charset="-120"/>
              </a:rPr>
              <a:t>Active development (GA)</a:t>
            </a:r>
            <a:endParaRPr lang="en-US" sz="1100" dirty="0"/>
          </a:p>
        </p:txBody>
      </p:sp>
      <p:sp>
        <p:nvSpPr>
          <p:cNvPr id="36" name="Shape 34"/>
          <p:cNvSpPr/>
          <p:nvPr/>
        </p:nvSpPr>
        <p:spPr>
          <a:xfrm>
            <a:off x="457200" y="4572000"/>
            <a:ext cx="8229600" cy="457200"/>
          </a:xfrm>
          <a:prstGeom prst="rect">
            <a:avLst/>
          </a:prstGeom>
          <a:solidFill>
            <a:srgbClr val="FEF3C7"/>
          </a:solidFill>
          <a:ln/>
        </p:spPr>
      </p:sp>
      <p:sp>
        <p:nvSpPr>
          <p:cNvPr id="37" name="Text 35"/>
          <p:cNvSpPr/>
          <p:nvPr/>
        </p:nvSpPr>
        <p:spPr>
          <a:xfrm>
            <a:off x="548640" y="4617720"/>
            <a:ext cx="8046720" cy="36576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  NGINX Ingress Controller end-of-life: March 2026 - Plan your migration!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8229600" cy="548640"/>
          </a:xfrm>
          <a:prstGeom prst="rect">
            <a:avLst/>
          </a:prstGeom>
          <a:noFill/>
          <a:ln/>
        </p:spPr>
        <p:txBody>
          <a:bodyPr wrap="square" lIns="0" tIns="0" rIns="0" bIns="0" rtlCol="0" anchor="ctr"/>
          <a:lstStyle/>
          <a:p>
            <a:pPr indent="0" marL="0">
              <a:buNone/>
            </a:pPr>
            <a:r>
              <a:rPr lang="en-US" sz="3200" dirty="0">
                <a:solidFill>
                  <a:srgbClr val="1E293B"/>
                </a:solidFill>
                <a:latin typeface="Arial Black" pitchFamily="34" charset="0"/>
                <a:ea typeface="Arial Black" pitchFamily="34" charset="-122"/>
                <a:cs typeface="Arial Black" pitchFamily="34" charset="-120"/>
              </a:rPr>
              <a:t>Vendor Landscape</a:t>
            </a:r>
            <a:endParaRPr lang="en-US" sz="3200" dirty="0"/>
          </a:p>
        </p:txBody>
      </p:sp>
      <p:sp>
        <p:nvSpPr>
          <p:cNvPr id="4" name="Text 2"/>
          <p:cNvSpPr/>
          <p:nvPr/>
        </p:nvSpPr>
        <p:spPr>
          <a:xfrm>
            <a:off x="548640" y="777240"/>
            <a:ext cx="8229600" cy="27432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Three architectural paradigms dominate the ecosystem</a:t>
            </a:r>
            <a:endParaRPr lang="en-US" sz="1400" dirty="0"/>
          </a:p>
        </p:txBody>
      </p:sp>
      <p:sp>
        <p:nvSpPr>
          <p:cNvPr id="5" name="Shape 3"/>
          <p:cNvSpPr/>
          <p:nvPr/>
        </p:nvSpPr>
        <p:spPr>
          <a:xfrm>
            <a:off x="457200" y="1143000"/>
            <a:ext cx="2743200" cy="457200"/>
          </a:xfrm>
          <a:prstGeom prst="rect">
            <a:avLst/>
          </a:prstGeom>
          <a:solidFill>
            <a:srgbClr val="7C3AED"/>
          </a:solidFill>
          <a:ln/>
        </p:spPr>
      </p:sp>
      <p:sp>
        <p:nvSpPr>
          <p:cNvPr id="6" name="Text 4"/>
          <p:cNvSpPr/>
          <p:nvPr/>
        </p:nvSpPr>
        <p:spPr>
          <a:xfrm>
            <a:off x="457200" y="1188720"/>
            <a:ext cx="2743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Envoy-Native</a:t>
            </a:r>
            <a:endParaRPr lang="en-US" sz="1400" dirty="0"/>
          </a:p>
        </p:txBody>
      </p:sp>
      <p:sp>
        <p:nvSpPr>
          <p:cNvPr id="7" name="Shape 5"/>
          <p:cNvSpPr/>
          <p:nvPr/>
        </p:nvSpPr>
        <p:spPr>
          <a:xfrm>
            <a:off x="457200" y="1600200"/>
            <a:ext cx="2743200" cy="1463040"/>
          </a:xfrm>
          <a:prstGeom prst="rect">
            <a:avLst/>
          </a:prstGeom>
          <a:solidFill>
            <a:srgbClr val="FFFFFF"/>
          </a:solidFill>
          <a:ln/>
        </p:spPr>
      </p:sp>
      <p:sp>
        <p:nvSpPr>
          <p:cNvPr id="8" name="Text 6"/>
          <p:cNvSpPr/>
          <p:nvPr/>
        </p:nvSpPr>
        <p:spPr>
          <a:xfrm>
            <a:off x="548640" y="169164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Envoy Gateway</a:t>
            </a:r>
            <a:endParaRPr lang="en-US" sz="1100" dirty="0"/>
          </a:p>
        </p:txBody>
      </p:sp>
      <p:sp>
        <p:nvSpPr>
          <p:cNvPr id="9" name="Text 7"/>
          <p:cNvSpPr/>
          <p:nvPr/>
        </p:nvSpPr>
        <p:spPr>
          <a:xfrm>
            <a:off x="548640" y="201168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Istio</a:t>
            </a:r>
            <a:endParaRPr lang="en-US" sz="1100" dirty="0"/>
          </a:p>
        </p:txBody>
      </p:sp>
      <p:sp>
        <p:nvSpPr>
          <p:cNvPr id="10" name="Text 8"/>
          <p:cNvSpPr/>
          <p:nvPr/>
        </p:nvSpPr>
        <p:spPr>
          <a:xfrm>
            <a:off x="548640" y="233172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Contour</a:t>
            </a:r>
            <a:endParaRPr lang="en-US" sz="1100" dirty="0"/>
          </a:p>
        </p:txBody>
      </p:sp>
      <p:sp>
        <p:nvSpPr>
          <p:cNvPr id="11" name="Text 9"/>
          <p:cNvSpPr/>
          <p:nvPr/>
        </p:nvSpPr>
        <p:spPr>
          <a:xfrm>
            <a:off x="548640" y="265176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Gloo Edge</a:t>
            </a:r>
            <a:endParaRPr lang="en-US" sz="1100" dirty="0"/>
          </a:p>
        </p:txBody>
      </p:sp>
      <p:sp>
        <p:nvSpPr>
          <p:cNvPr id="12" name="Text 10"/>
          <p:cNvSpPr/>
          <p:nvPr/>
        </p:nvSpPr>
        <p:spPr>
          <a:xfrm>
            <a:off x="548640" y="3154680"/>
            <a:ext cx="2560320" cy="365760"/>
          </a:xfrm>
          <a:prstGeom prst="rect">
            <a:avLst/>
          </a:prstGeom>
          <a:noFill/>
          <a:ln/>
        </p:spPr>
        <p:txBody>
          <a:bodyPr wrap="square" lIns="0" tIns="0" rIns="0" bIns="0" rtlCol="0" anchor="ctr"/>
          <a:lstStyle/>
          <a:p>
            <a:pPr indent="0" marL="0">
              <a:buNone/>
            </a:pPr>
            <a:r>
              <a:rPr lang="en-US" sz="1000" dirty="0">
                <a:solidFill>
                  <a:srgbClr val="10B981"/>
                </a:solidFill>
                <a:latin typeface="Arial" pitchFamily="34" charset="0"/>
                <a:ea typeface="Arial" pitchFamily="34" charset="-122"/>
                <a:cs typeface="Arial" pitchFamily="34" charset="-120"/>
              </a:rPr>
              <a:t>✓ Rich L7 features, large ecosystem</a:t>
            </a:r>
            <a:endParaRPr lang="en-US" sz="1000" dirty="0"/>
          </a:p>
        </p:txBody>
      </p:sp>
      <p:sp>
        <p:nvSpPr>
          <p:cNvPr id="13" name="Text 11"/>
          <p:cNvSpPr/>
          <p:nvPr/>
        </p:nvSpPr>
        <p:spPr>
          <a:xfrm>
            <a:off x="548640" y="3474720"/>
            <a:ext cx="2560320" cy="365760"/>
          </a:xfrm>
          <a:prstGeom prst="rect">
            <a:avLst/>
          </a:prstGeom>
          <a:noFill/>
          <a:ln/>
        </p:spPr>
        <p:txBody>
          <a:bodyPr wrap="square" lIns="0" tIns="0" rIns="0" bIns="0" rtlCol="0" anchor="ctr"/>
          <a:lstStyle/>
          <a:p>
            <a:pPr indent="0" marL="0">
              <a:buNone/>
            </a:pPr>
            <a:r>
              <a:rPr lang="en-US" sz="1000" dirty="0">
                <a:solidFill>
                  <a:srgbClr val="EF4444"/>
                </a:solidFill>
                <a:latin typeface="Arial" pitchFamily="34" charset="0"/>
                <a:ea typeface="Arial" pitchFamily="34" charset="-122"/>
                <a:cs typeface="Arial" pitchFamily="34" charset="-120"/>
              </a:rPr>
              <a:t>✗ Higher resource usage</a:t>
            </a:r>
            <a:endParaRPr lang="en-US" sz="1000" dirty="0"/>
          </a:p>
        </p:txBody>
      </p:sp>
      <p:sp>
        <p:nvSpPr>
          <p:cNvPr id="14" name="Shape 12"/>
          <p:cNvSpPr/>
          <p:nvPr/>
        </p:nvSpPr>
        <p:spPr>
          <a:xfrm>
            <a:off x="3291840" y="1143000"/>
            <a:ext cx="2743200" cy="457200"/>
          </a:xfrm>
          <a:prstGeom prst="rect">
            <a:avLst/>
          </a:prstGeom>
          <a:solidFill>
            <a:srgbClr val="0EA5E9"/>
          </a:solidFill>
          <a:ln/>
        </p:spPr>
      </p:sp>
      <p:sp>
        <p:nvSpPr>
          <p:cNvPr id="15" name="Text 13"/>
          <p:cNvSpPr/>
          <p:nvPr/>
        </p:nvSpPr>
        <p:spPr>
          <a:xfrm>
            <a:off x="3291840" y="1188720"/>
            <a:ext cx="2743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eBPF/Kernel</a:t>
            </a:r>
            <a:endParaRPr lang="en-US" sz="1400" dirty="0"/>
          </a:p>
        </p:txBody>
      </p:sp>
      <p:sp>
        <p:nvSpPr>
          <p:cNvPr id="16" name="Shape 14"/>
          <p:cNvSpPr/>
          <p:nvPr/>
        </p:nvSpPr>
        <p:spPr>
          <a:xfrm>
            <a:off x="3291840" y="1600200"/>
            <a:ext cx="2743200" cy="1463040"/>
          </a:xfrm>
          <a:prstGeom prst="rect">
            <a:avLst/>
          </a:prstGeom>
          <a:solidFill>
            <a:srgbClr val="FFFFFF"/>
          </a:solidFill>
          <a:ln/>
        </p:spPr>
      </p:sp>
      <p:sp>
        <p:nvSpPr>
          <p:cNvPr id="17" name="Text 15"/>
          <p:cNvSpPr/>
          <p:nvPr/>
        </p:nvSpPr>
        <p:spPr>
          <a:xfrm>
            <a:off x="3383280" y="169164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Cilium Gateway</a:t>
            </a:r>
            <a:endParaRPr lang="en-US" sz="1100" dirty="0"/>
          </a:p>
        </p:txBody>
      </p:sp>
      <p:sp>
        <p:nvSpPr>
          <p:cNvPr id="18" name="Text 16"/>
          <p:cNvSpPr/>
          <p:nvPr/>
        </p:nvSpPr>
        <p:spPr>
          <a:xfrm>
            <a:off x="3383280" y="201168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DigitalOcean</a:t>
            </a:r>
            <a:endParaRPr lang="en-US" sz="1100" dirty="0"/>
          </a:p>
        </p:txBody>
      </p:sp>
      <p:sp>
        <p:nvSpPr>
          <p:cNvPr id="19" name="Text 17"/>
          <p:cNvSpPr/>
          <p:nvPr/>
        </p:nvSpPr>
        <p:spPr>
          <a:xfrm>
            <a:off x="3383280" y="3154680"/>
            <a:ext cx="2560320" cy="365760"/>
          </a:xfrm>
          <a:prstGeom prst="rect">
            <a:avLst/>
          </a:prstGeom>
          <a:noFill/>
          <a:ln/>
        </p:spPr>
        <p:txBody>
          <a:bodyPr wrap="square" lIns="0" tIns="0" rIns="0" bIns="0" rtlCol="0" anchor="ctr"/>
          <a:lstStyle/>
          <a:p>
            <a:pPr indent="0" marL="0">
              <a:buNone/>
            </a:pPr>
            <a:r>
              <a:rPr lang="en-US" sz="1000" dirty="0">
                <a:solidFill>
                  <a:srgbClr val="10B981"/>
                </a:solidFill>
                <a:latin typeface="Arial" pitchFamily="34" charset="0"/>
                <a:ea typeface="Arial" pitchFamily="34" charset="-122"/>
                <a:cs typeface="Arial" pitchFamily="34" charset="-120"/>
              </a:rPr>
              <a:t>✓ Highest performance for L4</a:t>
            </a:r>
            <a:endParaRPr lang="en-US" sz="1000" dirty="0"/>
          </a:p>
        </p:txBody>
      </p:sp>
      <p:sp>
        <p:nvSpPr>
          <p:cNvPr id="20" name="Text 18"/>
          <p:cNvSpPr/>
          <p:nvPr/>
        </p:nvSpPr>
        <p:spPr>
          <a:xfrm>
            <a:off x="3383280" y="3474720"/>
            <a:ext cx="2560320" cy="365760"/>
          </a:xfrm>
          <a:prstGeom prst="rect">
            <a:avLst/>
          </a:prstGeom>
          <a:noFill/>
          <a:ln/>
        </p:spPr>
        <p:txBody>
          <a:bodyPr wrap="square" lIns="0" tIns="0" rIns="0" bIns="0" rtlCol="0" anchor="ctr"/>
          <a:lstStyle/>
          <a:p>
            <a:pPr indent="0" marL="0">
              <a:buNone/>
            </a:pPr>
            <a:r>
              <a:rPr lang="en-US" sz="1000" dirty="0">
                <a:solidFill>
                  <a:srgbClr val="EF4444"/>
                </a:solidFill>
                <a:latin typeface="Arial" pitchFamily="34" charset="0"/>
                <a:ea typeface="Arial" pitchFamily="34" charset="-122"/>
                <a:cs typeface="Arial" pitchFamily="34" charset="-120"/>
              </a:rPr>
              <a:t>✗ Linux kernel dependency</a:t>
            </a:r>
            <a:endParaRPr lang="en-US" sz="1000" dirty="0"/>
          </a:p>
        </p:txBody>
      </p:sp>
      <p:sp>
        <p:nvSpPr>
          <p:cNvPr id="21" name="Shape 19"/>
          <p:cNvSpPr/>
          <p:nvPr/>
        </p:nvSpPr>
        <p:spPr>
          <a:xfrm>
            <a:off x="6126480" y="1143000"/>
            <a:ext cx="2743200" cy="457200"/>
          </a:xfrm>
          <a:prstGeom prst="rect">
            <a:avLst/>
          </a:prstGeom>
          <a:solidFill>
            <a:srgbClr val="10B981"/>
          </a:solidFill>
          <a:ln/>
        </p:spPr>
      </p:sp>
      <p:sp>
        <p:nvSpPr>
          <p:cNvPr id="22" name="Text 20"/>
          <p:cNvSpPr/>
          <p:nvPr/>
        </p:nvSpPr>
        <p:spPr>
          <a:xfrm>
            <a:off x="6126480" y="1188720"/>
            <a:ext cx="2743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Traditional Proxy</a:t>
            </a:r>
            <a:endParaRPr lang="en-US" sz="1400" dirty="0"/>
          </a:p>
        </p:txBody>
      </p:sp>
      <p:sp>
        <p:nvSpPr>
          <p:cNvPr id="23" name="Shape 21"/>
          <p:cNvSpPr/>
          <p:nvPr/>
        </p:nvSpPr>
        <p:spPr>
          <a:xfrm>
            <a:off x="6126480" y="1600200"/>
            <a:ext cx="2743200" cy="1463040"/>
          </a:xfrm>
          <a:prstGeom prst="rect">
            <a:avLst/>
          </a:prstGeom>
          <a:solidFill>
            <a:srgbClr val="FFFFFF"/>
          </a:solidFill>
          <a:ln/>
        </p:spPr>
      </p:sp>
      <p:sp>
        <p:nvSpPr>
          <p:cNvPr id="24" name="Text 22"/>
          <p:cNvSpPr/>
          <p:nvPr/>
        </p:nvSpPr>
        <p:spPr>
          <a:xfrm>
            <a:off x="6217920" y="169164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NGINX Gateway Fabric</a:t>
            </a:r>
            <a:endParaRPr lang="en-US" sz="1100" dirty="0"/>
          </a:p>
        </p:txBody>
      </p:sp>
      <p:sp>
        <p:nvSpPr>
          <p:cNvPr id="25" name="Text 23"/>
          <p:cNvSpPr/>
          <p:nvPr/>
        </p:nvSpPr>
        <p:spPr>
          <a:xfrm>
            <a:off x="6217920" y="201168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Kong</a:t>
            </a:r>
            <a:endParaRPr lang="en-US" sz="1100" dirty="0"/>
          </a:p>
        </p:txBody>
      </p:sp>
      <p:sp>
        <p:nvSpPr>
          <p:cNvPr id="26" name="Text 24"/>
          <p:cNvSpPr/>
          <p:nvPr/>
        </p:nvSpPr>
        <p:spPr>
          <a:xfrm>
            <a:off x="6217920" y="233172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Traefik</a:t>
            </a:r>
            <a:endParaRPr lang="en-US" sz="1100" dirty="0"/>
          </a:p>
        </p:txBody>
      </p:sp>
      <p:sp>
        <p:nvSpPr>
          <p:cNvPr id="27" name="Text 25"/>
          <p:cNvSpPr/>
          <p:nvPr/>
        </p:nvSpPr>
        <p:spPr>
          <a:xfrm>
            <a:off x="6217920" y="2651760"/>
            <a:ext cx="25603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HAProxy</a:t>
            </a:r>
            <a:endParaRPr lang="en-US" sz="1100" dirty="0"/>
          </a:p>
        </p:txBody>
      </p:sp>
      <p:sp>
        <p:nvSpPr>
          <p:cNvPr id="28" name="Text 26"/>
          <p:cNvSpPr/>
          <p:nvPr/>
        </p:nvSpPr>
        <p:spPr>
          <a:xfrm>
            <a:off x="6217920" y="3154680"/>
            <a:ext cx="2560320" cy="365760"/>
          </a:xfrm>
          <a:prstGeom prst="rect">
            <a:avLst/>
          </a:prstGeom>
          <a:noFill/>
          <a:ln/>
        </p:spPr>
        <p:txBody>
          <a:bodyPr wrap="square" lIns="0" tIns="0" rIns="0" bIns="0" rtlCol="0" anchor="ctr"/>
          <a:lstStyle/>
          <a:p>
            <a:pPr indent="0" marL="0">
              <a:buNone/>
            </a:pPr>
            <a:r>
              <a:rPr lang="en-US" sz="1000" dirty="0">
                <a:solidFill>
                  <a:srgbClr val="10B981"/>
                </a:solidFill>
                <a:latin typeface="Arial" pitchFamily="34" charset="0"/>
                <a:ea typeface="Arial" pitchFamily="34" charset="-122"/>
                <a:cs typeface="Arial" pitchFamily="34" charset="-120"/>
              </a:rPr>
              <a:t>✓ Mature, well-understood</a:t>
            </a:r>
            <a:endParaRPr lang="en-US" sz="1000" dirty="0"/>
          </a:p>
        </p:txBody>
      </p:sp>
      <p:sp>
        <p:nvSpPr>
          <p:cNvPr id="29" name="Text 27"/>
          <p:cNvSpPr/>
          <p:nvPr/>
        </p:nvSpPr>
        <p:spPr>
          <a:xfrm>
            <a:off x="6217920" y="3474720"/>
            <a:ext cx="2560320" cy="365760"/>
          </a:xfrm>
          <a:prstGeom prst="rect">
            <a:avLst/>
          </a:prstGeom>
          <a:noFill/>
          <a:ln/>
        </p:spPr>
        <p:txBody>
          <a:bodyPr wrap="square" lIns="0" tIns="0" rIns="0" bIns="0" rtlCol="0" anchor="ctr"/>
          <a:lstStyle/>
          <a:p>
            <a:pPr indent="0" marL="0">
              <a:buNone/>
            </a:pPr>
            <a:r>
              <a:rPr lang="en-US" sz="1000" dirty="0">
                <a:solidFill>
                  <a:srgbClr val="EF4444"/>
                </a:solidFill>
                <a:latin typeface="Arial" pitchFamily="34" charset="0"/>
                <a:ea typeface="Arial" pitchFamily="34" charset="-122"/>
                <a:cs typeface="Arial" pitchFamily="34" charset="-120"/>
              </a:rPr>
              <a:t>✗ May have OSS limitations</a:t>
            </a:r>
            <a:endParaRPr lang="en-US" sz="1000" dirty="0"/>
          </a:p>
        </p:txBody>
      </p:sp>
      <p:sp>
        <p:nvSpPr>
          <p:cNvPr id="30" name="Text 28"/>
          <p:cNvSpPr/>
          <p:nvPr/>
        </p:nvSpPr>
        <p:spPr>
          <a:xfrm>
            <a:off x="548640" y="4023360"/>
            <a:ext cx="822960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Cloud Provider Managed Options</a:t>
            </a:r>
            <a:endParaRPr lang="en-US" sz="1400" dirty="0"/>
          </a:p>
        </p:txBody>
      </p:sp>
      <p:sp>
        <p:nvSpPr>
          <p:cNvPr id="31" name="Shape 29"/>
          <p:cNvSpPr/>
          <p:nvPr/>
        </p:nvSpPr>
        <p:spPr>
          <a:xfrm>
            <a:off x="457200" y="4434840"/>
            <a:ext cx="2743200" cy="457200"/>
          </a:xfrm>
          <a:prstGeom prst="rect">
            <a:avLst/>
          </a:prstGeom>
          <a:solidFill>
            <a:srgbClr val="FFFFFF"/>
          </a:solidFill>
          <a:ln/>
        </p:spPr>
      </p:sp>
      <p:sp>
        <p:nvSpPr>
          <p:cNvPr id="32" name="Text 30"/>
          <p:cNvSpPr/>
          <p:nvPr/>
        </p:nvSpPr>
        <p:spPr>
          <a:xfrm>
            <a:off x="548640" y="4480560"/>
            <a:ext cx="2560320" cy="36576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GKE Gateway Controller (Google)</a:t>
            </a:r>
            <a:endParaRPr lang="en-US" sz="1000" dirty="0"/>
          </a:p>
        </p:txBody>
      </p:sp>
      <p:sp>
        <p:nvSpPr>
          <p:cNvPr id="33" name="Shape 31"/>
          <p:cNvSpPr/>
          <p:nvPr/>
        </p:nvSpPr>
        <p:spPr>
          <a:xfrm>
            <a:off x="3291840" y="4434840"/>
            <a:ext cx="2743200" cy="457200"/>
          </a:xfrm>
          <a:prstGeom prst="rect">
            <a:avLst/>
          </a:prstGeom>
          <a:solidFill>
            <a:srgbClr val="FFFFFF"/>
          </a:solidFill>
          <a:ln/>
        </p:spPr>
      </p:sp>
      <p:sp>
        <p:nvSpPr>
          <p:cNvPr id="34" name="Text 32"/>
          <p:cNvSpPr/>
          <p:nvPr/>
        </p:nvSpPr>
        <p:spPr>
          <a:xfrm>
            <a:off x="3383280" y="4480560"/>
            <a:ext cx="2560320" cy="36576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AWS Gateway API Controller (VPC Lattice)</a:t>
            </a:r>
            <a:endParaRPr lang="en-US" sz="1000" dirty="0"/>
          </a:p>
        </p:txBody>
      </p:sp>
      <p:sp>
        <p:nvSpPr>
          <p:cNvPr id="35" name="Shape 33"/>
          <p:cNvSpPr/>
          <p:nvPr/>
        </p:nvSpPr>
        <p:spPr>
          <a:xfrm>
            <a:off x="6126480" y="4434840"/>
            <a:ext cx="2743200" cy="457200"/>
          </a:xfrm>
          <a:prstGeom prst="rect">
            <a:avLst/>
          </a:prstGeom>
          <a:solidFill>
            <a:srgbClr val="FFFFFF"/>
          </a:solidFill>
          <a:ln/>
        </p:spPr>
      </p:sp>
      <p:sp>
        <p:nvSpPr>
          <p:cNvPr id="36" name="Text 34"/>
          <p:cNvSpPr/>
          <p:nvPr/>
        </p:nvSpPr>
        <p:spPr>
          <a:xfrm>
            <a:off x="6217920" y="4480560"/>
            <a:ext cx="2560320" cy="36576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Azure Application Gateway for Containers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dirty="0">
                <a:solidFill>
                  <a:srgbClr val="F8FAFC"/>
                </a:solidFill>
                <a:latin typeface="Arial Black" pitchFamily="34" charset="0"/>
                <a:ea typeface="Arial Black" pitchFamily="34" charset="-122"/>
                <a:cs typeface="Arial Black" pitchFamily="34" charset="-120"/>
              </a:rPr>
              <a:t>External Load Balancer Integration</a:t>
            </a:r>
            <a:endParaRPr lang="en-US" sz="2800" dirty="0"/>
          </a:p>
        </p:txBody>
      </p:sp>
      <p:sp>
        <p:nvSpPr>
          <p:cNvPr id="4" name="Text 2"/>
          <p:cNvSpPr/>
          <p:nvPr/>
        </p:nvSpPr>
        <p:spPr>
          <a:xfrm>
            <a:off x="457200" y="822960"/>
            <a:ext cx="4114800" cy="32004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Cloud Provider</a:t>
            </a:r>
            <a:endParaRPr lang="en-US" sz="1400" dirty="0"/>
          </a:p>
        </p:txBody>
      </p:sp>
      <p:sp>
        <p:nvSpPr>
          <p:cNvPr id="5" name="Shape 3"/>
          <p:cNvSpPr/>
          <p:nvPr/>
        </p:nvSpPr>
        <p:spPr>
          <a:xfrm>
            <a:off x="457200" y="1188720"/>
            <a:ext cx="4114800" cy="3200400"/>
          </a:xfrm>
          <a:prstGeom prst="rect">
            <a:avLst/>
          </a:prstGeom>
          <a:solidFill>
            <a:srgbClr val="1E293B"/>
          </a:solidFill>
          <a:ln/>
        </p:spPr>
      </p:sp>
      <p:sp>
        <p:nvSpPr>
          <p:cNvPr id="6" name="Shape 4"/>
          <p:cNvSpPr/>
          <p:nvPr/>
        </p:nvSpPr>
        <p:spPr>
          <a:xfrm>
            <a:off x="914400" y="1371600"/>
            <a:ext cx="3200400" cy="640080"/>
          </a:xfrm>
          <a:prstGeom prst="rect">
            <a:avLst/>
          </a:prstGeom>
          <a:solidFill>
            <a:srgbClr val="1E3A5F"/>
          </a:solidFill>
          <a:ln/>
        </p:spPr>
      </p:sp>
      <p:sp>
        <p:nvSpPr>
          <p:cNvPr id="7" name="Text 5"/>
          <p:cNvSpPr/>
          <p:nvPr/>
        </p:nvSpPr>
        <p:spPr>
          <a:xfrm>
            <a:off x="914400" y="1463040"/>
            <a:ext cx="3200400" cy="320040"/>
          </a:xfrm>
          <a:prstGeom prst="rect">
            <a:avLst/>
          </a:prstGeom>
          <a:noFill/>
          <a:ln/>
        </p:spPr>
        <p:txBody>
          <a:bodyPr wrap="square" lIns="0" tIns="0" rIns="0" bIns="0"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Cloud Load Balancer</a:t>
            </a:r>
            <a:endParaRPr lang="en-US" sz="1200" dirty="0"/>
          </a:p>
        </p:txBody>
      </p:sp>
      <p:sp>
        <p:nvSpPr>
          <p:cNvPr id="8" name="Text 6"/>
          <p:cNvSpPr/>
          <p:nvPr/>
        </p:nvSpPr>
        <p:spPr>
          <a:xfrm>
            <a:off x="914400" y="1737360"/>
            <a:ext cx="320040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(ALB/NLB/GLB)</a:t>
            </a:r>
            <a:endParaRPr lang="en-US" sz="1000" dirty="0"/>
          </a:p>
        </p:txBody>
      </p:sp>
      <p:sp>
        <p:nvSpPr>
          <p:cNvPr id="9" name="Text 7"/>
          <p:cNvSpPr/>
          <p:nvPr/>
        </p:nvSpPr>
        <p:spPr>
          <a:xfrm>
            <a:off x="2286000" y="2057400"/>
            <a:ext cx="457200" cy="320040"/>
          </a:xfrm>
          <a:prstGeom prst="rect">
            <a:avLst/>
          </a:prstGeom>
          <a:noFill/>
          <a:ln/>
        </p:spPr>
        <p:txBody>
          <a:bodyPr wrap="square" lIns="0" tIns="0" rIns="0" bIns="0" rtlCol="0" anchor="ctr"/>
          <a:lstStyle/>
          <a:p>
            <a:pPr algn="ctr" indent="0" marL="0">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914400" y="2377440"/>
            <a:ext cx="3200400" cy="640080"/>
          </a:xfrm>
          <a:prstGeom prst="rect">
            <a:avLst/>
          </a:prstGeom>
          <a:solidFill>
            <a:srgbClr val="1E3A5F"/>
          </a:solidFill>
          <a:ln/>
        </p:spPr>
      </p:sp>
      <p:sp>
        <p:nvSpPr>
          <p:cNvPr id="11" name="Text 9"/>
          <p:cNvSpPr/>
          <p:nvPr/>
        </p:nvSpPr>
        <p:spPr>
          <a:xfrm>
            <a:off x="914400" y="2468880"/>
            <a:ext cx="3200400" cy="320040"/>
          </a:xfrm>
          <a:prstGeom prst="rect">
            <a:avLst/>
          </a:prstGeom>
          <a:noFill/>
          <a:ln/>
        </p:spPr>
        <p:txBody>
          <a:bodyPr wrap="square" lIns="0" tIns="0" rIns="0" bIns="0"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Gateway</a:t>
            </a:r>
            <a:endParaRPr lang="en-US" sz="1200" dirty="0"/>
          </a:p>
        </p:txBody>
      </p:sp>
      <p:sp>
        <p:nvSpPr>
          <p:cNvPr id="12" name="Text 10"/>
          <p:cNvSpPr/>
          <p:nvPr/>
        </p:nvSpPr>
        <p:spPr>
          <a:xfrm>
            <a:off x="914400" y="2743200"/>
            <a:ext cx="320040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(in-cluster proxy)</a:t>
            </a:r>
            <a:endParaRPr lang="en-US" sz="1000" dirty="0"/>
          </a:p>
        </p:txBody>
      </p:sp>
      <p:sp>
        <p:nvSpPr>
          <p:cNvPr id="13" name="Text 11"/>
          <p:cNvSpPr/>
          <p:nvPr/>
        </p:nvSpPr>
        <p:spPr>
          <a:xfrm>
            <a:off x="2286000" y="3063240"/>
            <a:ext cx="457200" cy="320040"/>
          </a:xfrm>
          <a:prstGeom prst="rect">
            <a:avLst/>
          </a:prstGeom>
          <a:noFill/>
          <a:ln/>
        </p:spPr>
        <p:txBody>
          <a:bodyPr wrap="square" lIns="0" tIns="0" rIns="0" bIns="0" rtlCol="0" anchor="ctr"/>
          <a:lstStyle/>
          <a:p>
            <a:pPr algn="ctr" indent="0" marL="0">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914400" y="3383280"/>
            <a:ext cx="3200400" cy="640080"/>
          </a:xfrm>
          <a:prstGeom prst="rect">
            <a:avLst/>
          </a:prstGeom>
          <a:solidFill>
            <a:srgbClr val="1E3A5F"/>
          </a:solidFill>
          <a:ln/>
        </p:spPr>
      </p:sp>
      <p:sp>
        <p:nvSpPr>
          <p:cNvPr id="15" name="Text 13"/>
          <p:cNvSpPr/>
          <p:nvPr/>
        </p:nvSpPr>
        <p:spPr>
          <a:xfrm>
            <a:off x="914400" y="3474720"/>
            <a:ext cx="3200400" cy="320040"/>
          </a:xfrm>
          <a:prstGeom prst="rect">
            <a:avLst/>
          </a:prstGeom>
          <a:noFill/>
          <a:ln/>
        </p:spPr>
        <p:txBody>
          <a:bodyPr wrap="square" lIns="0" tIns="0" rIns="0" bIns="0"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Services/Pods</a:t>
            </a:r>
            <a:endParaRPr lang="en-US" sz="1200" dirty="0"/>
          </a:p>
        </p:txBody>
      </p:sp>
      <p:sp>
        <p:nvSpPr>
          <p:cNvPr id="16" name="Text 14"/>
          <p:cNvSpPr/>
          <p:nvPr/>
        </p:nvSpPr>
        <p:spPr>
          <a:xfrm>
            <a:off x="4754880" y="822960"/>
            <a:ext cx="4114800" cy="32004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On-Premises</a:t>
            </a:r>
            <a:endParaRPr lang="en-US" sz="1400" dirty="0"/>
          </a:p>
        </p:txBody>
      </p:sp>
      <p:sp>
        <p:nvSpPr>
          <p:cNvPr id="17" name="Shape 15"/>
          <p:cNvSpPr/>
          <p:nvPr/>
        </p:nvSpPr>
        <p:spPr>
          <a:xfrm>
            <a:off x="4754880" y="1188720"/>
            <a:ext cx="4114800" cy="3200400"/>
          </a:xfrm>
          <a:prstGeom prst="rect">
            <a:avLst/>
          </a:prstGeom>
          <a:solidFill>
            <a:srgbClr val="1E293B"/>
          </a:solidFill>
          <a:ln/>
        </p:spPr>
      </p:sp>
      <p:sp>
        <p:nvSpPr>
          <p:cNvPr id="18" name="Shape 16"/>
          <p:cNvSpPr/>
          <p:nvPr/>
        </p:nvSpPr>
        <p:spPr>
          <a:xfrm>
            <a:off x="5212080" y="1371600"/>
            <a:ext cx="3200400" cy="640080"/>
          </a:xfrm>
          <a:prstGeom prst="rect">
            <a:avLst/>
          </a:prstGeom>
          <a:solidFill>
            <a:srgbClr val="1E3A5F"/>
          </a:solidFill>
          <a:ln/>
        </p:spPr>
      </p:sp>
      <p:sp>
        <p:nvSpPr>
          <p:cNvPr id="19" name="Text 17"/>
          <p:cNvSpPr/>
          <p:nvPr/>
        </p:nvSpPr>
        <p:spPr>
          <a:xfrm>
            <a:off x="5212080" y="1463040"/>
            <a:ext cx="3200400" cy="320040"/>
          </a:xfrm>
          <a:prstGeom prst="rect">
            <a:avLst/>
          </a:prstGeom>
          <a:noFill/>
          <a:ln/>
        </p:spPr>
        <p:txBody>
          <a:bodyPr wrap="square" lIns="0" tIns="0" rIns="0" bIns="0"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External LB / MetalLB</a:t>
            </a:r>
            <a:endParaRPr lang="en-US" sz="1200" dirty="0"/>
          </a:p>
        </p:txBody>
      </p:sp>
      <p:sp>
        <p:nvSpPr>
          <p:cNvPr id="20" name="Text 18"/>
          <p:cNvSpPr/>
          <p:nvPr/>
        </p:nvSpPr>
        <p:spPr>
          <a:xfrm>
            <a:off x="5212080" y="1737360"/>
            <a:ext cx="320040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(Provides External IP)</a:t>
            </a:r>
            <a:endParaRPr lang="en-US" sz="1000" dirty="0"/>
          </a:p>
        </p:txBody>
      </p:sp>
      <p:sp>
        <p:nvSpPr>
          <p:cNvPr id="21" name="Text 19"/>
          <p:cNvSpPr/>
          <p:nvPr/>
        </p:nvSpPr>
        <p:spPr>
          <a:xfrm>
            <a:off x="6583680" y="2057400"/>
            <a:ext cx="457200" cy="320040"/>
          </a:xfrm>
          <a:prstGeom prst="rect">
            <a:avLst/>
          </a:prstGeom>
          <a:noFill/>
          <a:ln/>
        </p:spPr>
        <p:txBody>
          <a:bodyPr wrap="square" lIns="0" tIns="0" rIns="0" bIns="0" rtlCol="0" anchor="ctr"/>
          <a:lstStyle/>
          <a:p>
            <a:pPr algn="ctr" indent="0" marL="0">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5212080" y="2377440"/>
            <a:ext cx="3200400" cy="640080"/>
          </a:xfrm>
          <a:prstGeom prst="rect">
            <a:avLst/>
          </a:prstGeom>
          <a:solidFill>
            <a:srgbClr val="1E3A5F"/>
          </a:solidFill>
          <a:ln/>
        </p:spPr>
      </p:sp>
      <p:sp>
        <p:nvSpPr>
          <p:cNvPr id="23" name="Text 21"/>
          <p:cNvSpPr/>
          <p:nvPr/>
        </p:nvSpPr>
        <p:spPr>
          <a:xfrm>
            <a:off x="5212080" y="2468880"/>
            <a:ext cx="3200400" cy="320040"/>
          </a:xfrm>
          <a:prstGeom prst="rect">
            <a:avLst/>
          </a:prstGeom>
          <a:noFill/>
          <a:ln/>
        </p:spPr>
        <p:txBody>
          <a:bodyPr wrap="square" lIns="0" tIns="0" rIns="0" bIns="0"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Gateway</a:t>
            </a:r>
            <a:endParaRPr lang="en-US" sz="1200" dirty="0"/>
          </a:p>
        </p:txBody>
      </p:sp>
      <p:sp>
        <p:nvSpPr>
          <p:cNvPr id="24" name="Text 22"/>
          <p:cNvSpPr/>
          <p:nvPr/>
        </p:nvSpPr>
        <p:spPr>
          <a:xfrm>
            <a:off x="5212080" y="2743200"/>
            <a:ext cx="320040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(Envoy/NGINX/Cilium)</a:t>
            </a:r>
            <a:endParaRPr lang="en-US" sz="1000" dirty="0"/>
          </a:p>
        </p:txBody>
      </p:sp>
      <p:sp>
        <p:nvSpPr>
          <p:cNvPr id="25" name="Text 23"/>
          <p:cNvSpPr/>
          <p:nvPr/>
        </p:nvSpPr>
        <p:spPr>
          <a:xfrm>
            <a:off x="6583680" y="3063240"/>
            <a:ext cx="457200" cy="320040"/>
          </a:xfrm>
          <a:prstGeom prst="rect">
            <a:avLst/>
          </a:prstGeom>
          <a:noFill/>
          <a:ln/>
        </p:spPr>
        <p:txBody>
          <a:bodyPr wrap="square" lIns="0" tIns="0" rIns="0" bIns="0" rtlCol="0" anchor="ctr"/>
          <a:lstStyle/>
          <a:p>
            <a:pPr algn="ctr" indent="0" marL="0">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26" name="Shape 24"/>
          <p:cNvSpPr/>
          <p:nvPr/>
        </p:nvSpPr>
        <p:spPr>
          <a:xfrm>
            <a:off x="5212080" y="3383280"/>
            <a:ext cx="3200400" cy="640080"/>
          </a:xfrm>
          <a:prstGeom prst="rect">
            <a:avLst/>
          </a:prstGeom>
          <a:solidFill>
            <a:srgbClr val="1E3A5F"/>
          </a:solidFill>
          <a:ln/>
        </p:spPr>
      </p:sp>
      <p:sp>
        <p:nvSpPr>
          <p:cNvPr id="27" name="Text 25"/>
          <p:cNvSpPr/>
          <p:nvPr/>
        </p:nvSpPr>
        <p:spPr>
          <a:xfrm>
            <a:off x="5212080" y="3474720"/>
            <a:ext cx="3200400" cy="320040"/>
          </a:xfrm>
          <a:prstGeom prst="rect">
            <a:avLst/>
          </a:prstGeom>
          <a:noFill/>
          <a:ln/>
        </p:spPr>
        <p:txBody>
          <a:bodyPr wrap="square" lIns="0" tIns="0" rIns="0" bIns="0"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Services/Pods</a:t>
            </a:r>
            <a:endParaRPr lang="en-US" sz="1200" dirty="0"/>
          </a:p>
        </p:txBody>
      </p:sp>
      <p:sp>
        <p:nvSpPr>
          <p:cNvPr id="28" name="Shape 26"/>
          <p:cNvSpPr/>
          <p:nvPr/>
        </p:nvSpPr>
        <p:spPr>
          <a:xfrm>
            <a:off x="457200" y="4526280"/>
            <a:ext cx="8229600" cy="457200"/>
          </a:xfrm>
          <a:prstGeom prst="rect">
            <a:avLst/>
          </a:prstGeom>
          <a:solidFill>
            <a:srgbClr val="1E293B"/>
          </a:solidFill>
          <a:ln/>
        </p:spPr>
      </p:sp>
      <p:sp>
        <p:nvSpPr>
          <p:cNvPr id="29" name="Text 27"/>
          <p:cNvSpPr/>
          <p:nvPr/>
        </p:nvSpPr>
        <p:spPr>
          <a:xfrm>
            <a:off x="548640" y="4572000"/>
            <a:ext cx="8046720" cy="365760"/>
          </a:xfrm>
          <a:prstGeom prst="rect">
            <a:avLst/>
          </a:prstGeom>
          <a:noFill/>
          <a:ln/>
        </p:spPr>
        <p:txBody>
          <a:bodyPr wrap="square" lIns="0" tIns="0" rIns="0" bIns="0" rtlCol="0" anchor="ctr"/>
          <a:lstStyle/>
          <a:p>
            <a:pPr indent="0" marL="0">
              <a:buNone/>
            </a:pPr>
            <a:r>
              <a:rPr lang="en-US" sz="1200" dirty="0">
                <a:solidFill>
                  <a:srgbClr val="F8FAFC"/>
                </a:solidFill>
                <a:latin typeface="Arial" pitchFamily="34" charset="0"/>
                <a:ea typeface="Arial" pitchFamily="34" charset="-122"/>
                <a:cs typeface="Arial" pitchFamily="34" charset="-120"/>
              </a:rPr>
              <a:t>💡 Gateway API controllers automatically provision the external LB based on GatewayClass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8229600" cy="457200"/>
          </a:xfrm>
          <a:prstGeom prst="rect">
            <a:avLst/>
          </a:prstGeom>
          <a:noFill/>
          <a:ln/>
        </p:spPr>
        <p:txBody>
          <a:bodyPr wrap="square" lIns="0" tIns="0" rIns="0" bIns="0" rtlCol="0" anchor="ctr"/>
          <a:lstStyle/>
          <a:p>
            <a:pPr indent="0" marL="0">
              <a:buNone/>
            </a:pPr>
            <a:r>
              <a:rPr lang="en-US" sz="2800" dirty="0">
                <a:solidFill>
                  <a:srgbClr val="1E293B"/>
                </a:solidFill>
                <a:latin typeface="Arial Black" pitchFamily="34" charset="0"/>
                <a:ea typeface="Arial Black" pitchFamily="34" charset="-122"/>
                <a:cs typeface="Arial Black" pitchFamily="34" charset="-120"/>
              </a:rPr>
              <a:t>Cloud Provider Integration Examples</a:t>
            </a:r>
            <a:endParaRPr lang="en-US" sz="2800" dirty="0"/>
          </a:p>
        </p:txBody>
      </p:sp>
      <p:sp>
        <p:nvSpPr>
          <p:cNvPr id="4" name="Text 2"/>
          <p:cNvSpPr/>
          <p:nvPr/>
        </p:nvSpPr>
        <p:spPr>
          <a:xfrm>
            <a:off x="548640" y="822960"/>
            <a:ext cx="3931920" cy="32004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Google GKE</a:t>
            </a:r>
            <a:endParaRPr lang="en-US" sz="1400" dirty="0"/>
          </a:p>
        </p:txBody>
      </p:sp>
      <p:sp>
        <p:nvSpPr>
          <p:cNvPr id="5" name="Shape 3"/>
          <p:cNvSpPr/>
          <p:nvPr/>
        </p:nvSpPr>
        <p:spPr>
          <a:xfrm>
            <a:off x="457200" y="1188720"/>
            <a:ext cx="4114800" cy="1645920"/>
          </a:xfrm>
          <a:prstGeom prst="rect">
            <a:avLst/>
          </a:prstGeom>
          <a:solidFill>
            <a:srgbClr val="1E293B"/>
          </a:solidFill>
          <a:ln/>
        </p:spPr>
      </p:sp>
      <p:sp>
        <p:nvSpPr>
          <p:cNvPr id="6" name="Text 4"/>
          <p:cNvSpPr/>
          <p:nvPr/>
        </p:nvSpPr>
        <p:spPr>
          <a:xfrm>
            <a:off x="548640" y="1280160"/>
            <a:ext cx="3931920" cy="1463040"/>
          </a:xfrm>
          <a:prstGeom prst="rect">
            <a:avLst/>
          </a:prstGeom>
          <a:noFill/>
          <a:ln/>
        </p:spPr>
        <p:txBody>
          <a:bodyPr wrap="square" lIns="0" tIns="0" rIns="0" bIns="0" rtlCol="0" anchor="ctr"/>
          <a:lstStyle/>
          <a:p>
            <a:pPr indent="0" marL="0">
              <a:buNone/>
            </a:pPr>
            <a:r>
              <a:rPr lang="en-US" sz="900" dirty="0">
                <a:solidFill>
                  <a:srgbClr val="F8FAFC"/>
                </a:solidFill>
                <a:latin typeface="Consolas" pitchFamily="34" charset="0"/>
                <a:ea typeface="Consolas" pitchFamily="34" charset="-122"/>
                <a:cs typeface="Consolas" pitchFamily="34" charset="-120"/>
              </a:rPr>
              <a:t>apiVersion: gateway.networking.k8s.io/v1</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kind: GatewayClass</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metadata:</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  name: gke-l7-global-external-managed</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spec:</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  controllerName: networking.gke.io/</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    gateway</a:t>
            </a:r>
            <a:endParaRPr lang="en-US" sz="900" dirty="0"/>
          </a:p>
        </p:txBody>
      </p:sp>
      <p:sp>
        <p:nvSpPr>
          <p:cNvPr id="7" name="Text 5"/>
          <p:cNvSpPr/>
          <p:nvPr/>
        </p:nvSpPr>
        <p:spPr>
          <a:xfrm>
            <a:off x="548640" y="2926080"/>
            <a:ext cx="393192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Creates: Google Cloud Global HTTP(S) LB</a:t>
            </a:r>
            <a:endParaRPr lang="en-US" sz="1000" dirty="0"/>
          </a:p>
        </p:txBody>
      </p:sp>
      <p:sp>
        <p:nvSpPr>
          <p:cNvPr id="8" name="Text 6"/>
          <p:cNvSpPr/>
          <p:nvPr/>
        </p:nvSpPr>
        <p:spPr>
          <a:xfrm>
            <a:off x="4846320" y="822960"/>
            <a:ext cx="3931920" cy="320040"/>
          </a:xfrm>
          <a:prstGeom prst="rect">
            <a:avLst/>
          </a:prstGeom>
          <a:noFill/>
          <a:ln/>
        </p:spPr>
        <p:txBody>
          <a:bodyPr wrap="square" lIns="0" tIns="0" rIns="0" bIns="0" rtlCol="0" anchor="ctr"/>
          <a:lstStyle/>
          <a:p>
            <a:pPr indent="0" marL="0">
              <a:buNone/>
            </a:pPr>
            <a:r>
              <a:rPr lang="en-US" sz="1400" b="1" dirty="0">
                <a:solidFill>
                  <a:srgbClr val="0EA5E9"/>
                </a:solidFill>
                <a:latin typeface="Arial" pitchFamily="34" charset="0"/>
                <a:ea typeface="Arial" pitchFamily="34" charset="-122"/>
                <a:cs typeface="Arial" pitchFamily="34" charset="-120"/>
              </a:rPr>
              <a:t>AWS EKS</a:t>
            </a:r>
            <a:endParaRPr lang="en-US" sz="1400" dirty="0"/>
          </a:p>
        </p:txBody>
      </p:sp>
      <p:sp>
        <p:nvSpPr>
          <p:cNvPr id="9" name="Shape 7"/>
          <p:cNvSpPr/>
          <p:nvPr/>
        </p:nvSpPr>
        <p:spPr>
          <a:xfrm>
            <a:off x="4754880" y="1188720"/>
            <a:ext cx="4114800" cy="1645920"/>
          </a:xfrm>
          <a:prstGeom prst="rect">
            <a:avLst/>
          </a:prstGeom>
          <a:solidFill>
            <a:srgbClr val="1E293B"/>
          </a:solidFill>
          <a:ln/>
        </p:spPr>
      </p:sp>
      <p:sp>
        <p:nvSpPr>
          <p:cNvPr id="10" name="Text 8"/>
          <p:cNvSpPr/>
          <p:nvPr/>
        </p:nvSpPr>
        <p:spPr>
          <a:xfrm>
            <a:off x="4846320" y="1280160"/>
            <a:ext cx="3931920" cy="1463040"/>
          </a:xfrm>
          <a:prstGeom prst="rect">
            <a:avLst/>
          </a:prstGeom>
          <a:noFill/>
          <a:ln/>
        </p:spPr>
        <p:txBody>
          <a:bodyPr wrap="square" lIns="0" tIns="0" rIns="0" bIns="0" rtlCol="0" anchor="ctr"/>
          <a:lstStyle/>
          <a:p>
            <a:pPr indent="0" marL="0">
              <a:buNone/>
            </a:pPr>
            <a:r>
              <a:rPr lang="en-US" sz="900" dirty="0">
                <a:solidFill>
                  <a:srgbClr val="F8FAFC"/>
                </a:solidFill>
                <a:latin typeface="Consolas" pitchFamily="34" charset="0"/>
                <a:ea typeface="Consolas" pitchFamily="34" charset="-122"/>
                <a:cs typeface="Consolas" pitchFamily="34" charset="-120"/>
              </a:rPr>
              <a:t>apiVersion: gateway.networking.k8s.io/v1</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kind: GatewayClass</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metadata:</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  name: amazon-vpc-lattice</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spec:</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  controllerName:</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    application-networking.k8s.aws/</a:t>
            </a:r>
            <a:endParaRPr lang="en-US" sz="900" dirty="0"/>
          </a:p>
          <a:p>
            <a:pPr indent="0" marL="0">
              <a:buNone/>
            </a:pPr>
            <a:r>
              <a:rPr lang="en-US" sz="900" dirty="0">
                <a:solidFill>
                  <a:srgbClr val="F8FAFC"/>
                </a:solidFill>
                <a:latin typeface="Consolas" pitchFamily="34" charset="0"/>
                <a:ea typeface="Consolas" pitchFamily="34" charset="-122"/>
                <a:cs typeface="Consolas" pitchFamily="34" charset="-120"/>
              </a:rPr>
              <a:t>    gateway-api-controller</a:t>
            </a:r>
            <a:endParaRPr lang="en-US" sz="900" dirty="0"/>
          </a:p>
        </p:txBody>
      </p:sp>
      <p:sp>
        <p:nvSpPr>
          <p:cNvPr id="11" name="Text 9"/>
          <p:cNvSpPr/>
          <p:nvPr/>
        </p:nvSpPr>
        <p:spPr>
          <a:xfrm>
            <a:off x="4846320" y="2926080"/>
            <a:ext cx="393192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Creates: AWS VPC Lattice service network</a:t>
            </a:r>
            <a:endParaRPr lang="en-US" sz="1000" dirty="0"/>
          </a:p>
        </p:txBody>
      </p:sp>
      <p:sp>
        <p:nvSpPr>
          <p:cNvPr id="12" name="Text 10"/>
          <p:cNvSpPr/>
          <p:nvPr/>
        </p:nvSpPr>
        <p:spPr>
          <a:xfrm>
            <a:off x="548640" y="3383280"/>
            <a:ext cx="822960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Benefits of Cloud-Managed Gateway API</a:t>
            </a:r>
            <a:endParaRPr lang="en-US" sz="1400" dirty="0"/>
          </a:p>
        </p:txBody>
      </p:sp>
      <p:pic>
        <p:nvPicPr>
          <p:cNvPr id="13" name="Image 0" descr="preencoded.png">    </p:cNvPr>
          <p:cNvPicPr>
            <a:picLocks noChangeAspect="1"/>
          </p:cNvPicPr>
          <p:nvPr/>
        </p:nvPicPr>
        <p:blipFill>
          <a:blip r:embed="rId1"/>
          <a:stretch>
            <a:fillRect/>
          </a:stretch>
        </p:blipFill>
        <p:spPr>
          <a:xfrm>
            <a:off x="548640" y="3794760"/>
            <a:ext cx="228600" cy="228600"/>
          </a:xfrm>
          <a:prstGeom prst="rect">
            <a:avLst/>
          </a:prstGeom>
        </p:spPr>
      </p:pic>
      <p:sp>
        <p:nvSpPr>
          <p:cNvPr id="14" name="Text 11"/>
          <p:cNvSpPr/>
          <p:nvPr/>
        </p:nvSpPr>
        <p:spPr>
          <a:xfrm>
            <a:off x="868680" y="3794760"/>
            <a:ext cx="39319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Native integration with cloud load balancers</a:t>
            </a:r>
            <a:endParaRPr lang="en-US" sz="1100" dirty="0"/>
          </a:p>
        </p:txBody>
      </p:sp>
      <p:pic>
        <p:nvPicPr>
          <p:cNvPr id="15" name="Image 1" descr="preencoded.png">    </p:cNvPr>
          <p:cNvPicPr>
            <a:picLocks noChangeAspect="1"/>
          </p:cNvPicPr>
          <p:nvPr/>
        </p:nvPicPr>
        <p:blipFill>
          <a:blip r:embed="rId2"/>
          <a:stretch>
            <a:fillRect/>
          </a:stretch>
        </p:blipFill>
        <p:spPr>
          <a:xfrm>
            <a:off x="548640" y="4087368"/>
            <a:ext cx="228600" cy="228600"/>
          </a:xfrm>
          <a:prstGeom prst="rect">
            <a:avLst/>
          </a:prstGeom>
        </p:spPr>
      </p:pic>
      <p:sp>
        <p:nvSpPr>
          <p:cNvPr id="16" name="Text 12"/>
          <p:cNvSpPr/>
          <p:nvPr/>
        </p:nvSpPr>
        <p:spPr>
          <a:xfrm>
            <a:off x="868680" y="4087368"/>
            <a:ext cx="39319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Automatic TLS certificate provisioning</a:t>
            </a:r>
            <a:endParaRPr lang="en-US" sz="1100" dirty="0"/>
          </a:p>
        </p:txBody>
      </p:sp>
      <p:pic>
        <p:nvPicPr>
          <p:cNvPr id="17" name="Image 2" descr="preencoded.png">    </p:cNvPr>
          <p:cNvPicPr>
            <a:picLocks noChangeAspect="1"/>
          </p:cNvPicPr>
          <p:nvPr/>
        </p:nvPicPr>
        <p:blipFill>
          <a:blip r:embed="rId3"/>
          <a:stretch>
            <a:fillRect/>
          </a:stretch>
        </p:blipFill>
        <p:spPr>
          <a:xfrm>
            <a:off x="548640" y="4379976"/>
            <a:ext cx="228600" cy="228600"/>
          </a:xfrm>
          <a:prstGeom prst="rect">
            <a:avLst/>
          </a:prstGeom>
        </p:spPr>
      </p:pic>
      <p:sp>
        <p:nvSpPr>
          <p:cNvPr id="18" name="Text 13"/>
          <p:cNvSpPr/>
          <p:nvPr/>
        </p:nvSpPr>
        <p:spPr>
          <a:xfrm>
            <a:off x="868680" y="4379976"/>
            <a:ext cx="39319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Cloud-native observability and logging</a:t>
            </a:r>
            <a:endParaRPr lang="en-US" sz="1100" dirty="0"/>
          </a:p>
        </p:txBody>
      </p:sp>
      <p:pic>
        <p:nvPicPr>
          <p:cNvPr id="19" name="Image 3" descr="preencoded.png">    </p:cNvPr>
          <p:cNvPicPr>
            <a:picLocks noChangeAspect="1"/>
          </p:cNvPicPr>
          <p:nvPr/>
        </p:nvPicPr>
        <p:blipFill>
          <a:blip r:embed="rId4"/>
          <a:stretch>
            <a:fillRect/>
          </a:stretch>
        </p:blipFill>
        <p:spPr>
          <a:xfrm>
            <a:off x="548640" y="4672584"/>
            <a:ext cx="228600" cy="228600"/>
          </a:xfrm>
          <a:prstGeom prst="rect">
            <a:avLst/>
          </a:prstGeom>
        </p:spPr>
      </p:pic>
      <p:sp>
        <p:nvSpPr>
          <p:cNvPr id="20" name="Text 14"/>
          <p:cNvSpPr/>
          <p:nvPr/>
        </p:nvSpPr>
        <p:spPr>
          <a:xfrm>
            <a:off x="868680" y="4672584"/>
            <a:ext cx="39319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Multi-cluster load balancing (GKE)</a:t>
            </a:r>
            <a:endParaRPr lang="en-US" sz="1100" dirty="0"/>
          </a:p>
        </p:txBody>
      </p:sp>
      <p:pic>
        <p:nvPicPr>
          <p:cNvPr id="21" name="Image 4" descr="preencoded.png">    </p:cNvPr>
          <p:cNvPicPr>
            <a:picLocks noChangeAspect="1"/>
          </p:cNvPicPr>
          <p:nvPr/>
        </p:nvPicPr>
        <p:blipFill>
          <a:blip r:embed="rId5"/>
          <a:stretch>
            <a:fillRect/>
          </a:stretch>
        </p:blipFill>
        <p:spPr>
          <a:xfrm>
            <a:off x="548640" y="4965192"/>
            <a:ext cx="228600" cy="228600"/>
          </a:xfrm>
          <a:prstGeom prst="rect">
            <a:avLst/>
          </a:prstGeom>
        </p:spPr>
      </p:pic>
      <p:sp>
        <p:nvSpPr>
          <p:cNvPr id="22" name="Text 15"/>
          <p:cNvSpPr/>
          <p:nvPr/>
        </p:nvSpPr>
        <p:spPr>
          <a:xfrm>
            <a:off x="868680" y="4965192"/>
            <a:ext cx="3931920" cy="27432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Managed controller upgrades</a:t>
            </a:r>
            <a:endParaRPr lang="en-US" sz="1100" dirty="0"/>
          </a:p>
        </p:txBody>
      </p:sp>
      <p:sp>
        <p:nvSpPr>
          <p:cNvPr id="23" name="Shape 16"/>
          <p:cNvSpPr/>
          <p:nvPr/>
        </p:nvSpPr>
        <p:spPr>
          <a:xfrm>
            <a:off x="4754880" y="3657600"/>
            <a:ext cx="4114800" cy="1280160"/>
          </a:xfrm>
          <a:prstGeom prst="rect">
            <a:avLst/>
          </a:prstGeom>
          <a:solidFill>
            <a:srgbClr val="FEF3C7"/>
          </a:solidFill>
          <a:ln/>
        </p:spPr>
      </p:sp>
      <p:sp>
        <p:nvSpPr>
          <p:cNvPr id="24" name="Text 17"/>
          <p:cNvSpPr/>
          <p:nvPr/>
        </p:nvSpPr>
        <p:spPr>
          <a:xfrm>
            <a:off x="4892040" y="3749040"/>
            <a:ext cx="384048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GKE Advanced Features</a:t>
            </a:r>
            <a:endParaRPr lang="en-US" sz="1200" dirty="0"/>
          </a:p>
        </p:txBody>
      </p:sp>
      <p:sp>
        <p:nvSpPr>
          <p:cNvPr id="25" name="Text 18"/>
          <p:cNvSpPr/>
          <p:nvPr/>
        </p:nvSpPr>
        <p:spPr>
          <a:xfrm>
            <a:off x="4892040" y="4069080"/>
            <a:ext cx="3840480" cy="82296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Multi-cluster Gateway</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Traffic splitting across clusters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CDN and Cloud Armor integration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Typical Questions</a:t>
            </a:r>
            <a:endParaRPr lang="en-US" sz="3200" dirty="0"/>
          </a:p>
        </p:txBody>
      </p:sp>
      <p:sp>
        <p:nvSpPr>
          <p:cNvPr id="4" name="Shape 2"/>
          <p:cNvSpPr/>
          <p:nvPr/>
        </p:nvSpPr>
        <p:spPr>
          <a:xfrm>
            <a:off x="457200" y="868680"/>
            <a:ext cx="8229600" cy="777240"/>
          </a:xfrm>
          <a:prstGeom prst="rect">
            <a:avLst/>
          </a:prstGeom>
          <a:solidFill>
            <a:srgbClr val="1E293B"/>
          </a:solidFill>
          <a:ln/>
        </p:spPr>
      </p:sp>
      <p:pic>
        <p:nvPicPr>
          <p:cNvPr id="5" name="Image 0" descr="preencoded.png">    </p:cNvPr>
          <p:cNvPicPr>
            <a:picLocks noChangeAspect="1"/>
          </p:cNvPicPr>
          <p:nvPr/>
        </p:nvPicPr>
        <p:blipFill>
          <a:blip r:embed="rId1"/>
          <a:stretch>
            <a:fillRect/>
          </a:stretch>
        </p:blipFill>
        <p:spPr>
          <a:xfrm>
            <a:off x="594360" y="1097280"/>
            <a:ext cx="320040" cy="320040"/>
          </a:xfrm>
          <a:prstGeom prst="rect">
            <a:avLst/>
          </a:prstGeom>
        </p:spPr>
      </p:pic>
      <p:sp>
        <p:nvSpPr>
          <p:cNvPr id="6" name="Text 3"/>
          <p:cNvSpPr/>
          <p:nvPr/>
        </p:nvSpPr>
        <p:spPr>
          <a:xfrm>
            <a:off x="1051560" y="941832"/>
            <a:ext cx="7498080" cy="27432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Should I migrate from Ingress now?</a:t>
            </a:r>
            <a:endParaRPr lang="en-US" sz="1300" dirty="0"/>
          </a:p>
        </p:txBody>
      </p:sp>
      <p:sp>
        <p:nvSpPr>
          <p:cNvPr id="7" name="Text 4"/>
          <p:cNvSpPr/>
          <p:nvPr/>
        </p:nvSpPr>
        <p:spPr>
          <a:xfrm>
            <a:off x="1051560" y="1234440"/>
            <a:ext cx="7498080" cy="36576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Yes, especially if using NGINX Ingress (EOL March 2026). Start with new projects, migrate existing gradually.</a:t>
            </a:r>
            <a:endParaRPr lang="en-US" sz="1100" dirty="0"/>
          </a:p>
        </p:txBody>
      </p:sp>
      <p:sp>
        <p:nvSpPr>
          <p:cNvPr id="8" name="Shape 5"/>
          <p:cNvSpPr/>
          <p:nvPr/>
        </p:nvSpPr>
        <p:spPr>
          <a:xfrm>
            <a:off x="457200" y="1691640"/>
            <a:ext cx="8229600" cy="777240"/>
          </a:xfrm>
          <a:prstGeom prst="rect">
            <a:avLst/>
          </a:prstGeom>
          <a:solidFill>
            <a:srgbClr val="1E293B"/>
          </a:solidFill>
          <a:ln/>
        </p:spPr>
      </p:sp>
      <p:pic>
        <p:nvPicPr>
          <p:cNvPr id="9" name="Image 1" descr="preencoded.png">    </p:cNvPr>
          <p:cNvPicPr>
            <a:picLocks noChangeAspect="1"/>
          </p:cNvPicPr>
          <p:nvPr/>
        </p:nvPicPr>
        <p:blipFill>
          <a:blip r:embed="rId2"/>
          <a:stretch>
            <a:fillRect/>
          </a:stretch>
        </p:blipFill>
        <p:spPr>
          <a:xfrm>
            <a:off x="594360" y="1920240"/>
            <a:ext cx="320040" cy="320040"/>
          </a:xfrm>
          <a:prstGeom prst="rect">
            <a:avLst/>
          </a:prstGeom>
        </p:spPr>
      </p:pic>
      <p:sp>
        <p:nvSpPr>
          <p:cNvPr id="10" name="Text 6"/>
          <p:cNvSpPr/>
          <p:nvPr/>
        </p:nvSpPr>
        <p:spPr>
          <a:xfrm>
            <a:off x="1051560" y="1764792"/>
            <a:ext cx="7498080" cy="27432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Which implementation should I choose?</a:t>
            </a:r>
            <a:endParaRPr lang="en-US" sz="1300" dirty="0"/>
          </a:p>
        </p:txBody>
      </p:sp>
      <p:sp>
        <p:nvSpPr>
          <p:cNvPr id="11" name="Text 7"/>
          <p:cNvSpPr/>
          <p:nvPr/>
        </p:nvSpPr>
        <p:spPr>
          <a:xfrm>
            <a:off x="1051560" y="2057400"/>
            <a:ext cx="7498080" cy="36576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Envoy Gateway for L7 features, Cilium for L4 performance, cloud-managed for simplicity. Avoid vendor lock-in with features built into the spec.</a:t>
            </a:r>
            <a:endParaRPr lang="en-US" sz="1100" dirty="0"/>
          </a:p>
        </p:txBody>
      </p:sp>
      <p:sp>
        <p:nvSpPr>
          <p:cNvPr id="12" name="Shape 8"/>
          <p:cNvSpPr/>
          <p:nvPr/>
        </p:nvSpPr>
        <p:spPr>
          <a:xfrm>
            <a:off x="457200" y="2514600"/>
            <a:ext cx="8229600" cy="777240"/>
          </a:xfrm>
          <a:prstGeom prst="rect">
            <a:avLst/>
          </a:prstGeom>
          <a:solidFill>
            <a:srgbClr val="1E293B"/>
          </a:solidFill>
          <a:ln/>
        </p:spPr>
      </p:sp>
      <p:pic>
        <p:nvPicPr>
          <p:cNvPr id="13" name="Image 2" descr="preencoded.png">    </p:cNvPr>
          <p:cNvPicPr>
            <a:picLocks noChangeAspect="1"/>
          </p:cNvPicPr>
          <p:nvPr/>
        </p:nvPicPr>
        <p:blipFill>
          <a:blip r:embed="rId3"/>
          <a:stretch>
            <a:fillRect/>
          </a:stretch>
        </p:blipFill>
        <p:spPr>
          <a:xfrm>
            <a:off x="594360" y="2743200"/>
            <a:ext cx="320040" cy="320040"/>
          </a:xfrm>
          <a:prstGeom prst="rect">
            <a:avLst/>
          </a:prstGeom>
        </p:spPr>
      </p:pic>
      <p:sp>
        <p:nvSpPr>
          <p:cNvPr id="14" name="Text 9"/>
          <p:cNvSpPr/>
          <p:nvPr/>
        </p:nvSpPr>
        <p:spPr>
          <a:xfrm>
            <a:off x="1051560" y="2587752"/>
            <a:ext cx="7498080" cy="27432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Can I run both Ingress and Gateway API?</a:t>
            </a:r>
            <a:endParaRPr lang="en-US" sz="1300" dirty="0"/>
          </a:p>
        </p:txBody>
      </p:sp>
      <p:sp>
        <p:nvSpPr>
          <p:cNvPr id="15" name="Text 10"/>
          <p:cNvSpPr/>
          <p:nvPr/>
        </p:nvSpPr>
        <p:spPr>
          <a:xfrm>
            <a:off x="1051560" y="2880360"/>
            <a:ext cx="7498080" cy="36576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Yes! They coexist. Use Gateway API for new services, keep Ingress for stable workloads during migration.</a:t>
            </a:r>
            <a:endParaRPr lang="en-US" sz="1100" dirty="0"/>
          </a:p>
        </p:txBody>
      </p:sp>
      <p:sp>
        <p:nvSpPr>
          <p:cNvPr id="16" name="Shape 11"/>
          <p:cNvSpPr/>
          <p:nvPr/>
        </p:nvSpPr>
        <p:spPr>
          <a:xfrm>
            <a:off x="457200" y="3337560"/>
            <a:ext cx="8229600" cy="777240"/>
          </a:xfrm>
          <a:prstGeom prst="rect">
            <a:avLst/>
          </a:prstGeom>
          <a:solidFill>
            <a:srgbClr val="1E293B"/>
          </a:solidFill>
          <a:ln/>
        </p:spPr>
      </p:sp>
      <p:pic>
        <p:nvPicPr>
          <p:cNvPr id="17" name="Image 3" descr="preencoded.png">    </p:cNvPr>
          <p:cNvPicPr>
            <a:picLocks noChangeAspect="1"/>
          </p:cNvPicPr>
          <p:nvPr/>
        </p:nvPicPr>
        <p:blipFill>
          <a:blip r:embed="rId4"/>
          <a:stretch>
            <a:fillRect/>
          </a:stretch>
        </p:blipFill>
        <p:spPr>
          <a:xfrm>
            <a:off x="594360" y="3566160"/>
            <a:ext cx="320040" cy="320040"/>
          </a:xfrm>
          <a:prstGeom prst="rect">
            <a:avLst/>
          </a:prstGeom>
        </p:spPr>
      </p:pic>
      <p:sp>
        <p:nvSpPr>
          <p:cNvPr id="18" name="Text 12"/>
          <p:cNvSpPr/>
          <p:nvPr/>
        </p:nvSpPr>
        <p:spPr>
          <a:xfrm>
            <a:off x="1051560" y="3410712"/>
            <a:ext cx="7498080" cy="27432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How mature is Gateway API?</a:t>
            </a:r>
            <a:endParaRPr lang="en-US" sz="1300" dirty="0"/>
          </a:p>
        </p:txBody>
      </p:sp>
      <p:sp>
        <p:nvSpPr>
          <p:cNvPr id="19" name="Text 13"/>
          <p:cNvSpPr/>
          <p:nvPr/>
        </p:nvSpPr>
        <p:spPr>
          <a:xfrm>
            <a:off x="1051560" y="3703320"/>
            <a:ext cx="7498080" cy="36576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GA since v1.0 (Oct 2023), now at v1.4.0. Core features are production-ready. TCPRoute/UDPRoute still experimental.</a:t>
            </a:r>
            <a:endParaRPr lang="en-US" sz="1100" dirty="0"/>
          </a:p>
        </p:txBody>
      </p:sp>
      <p:sp>
        <p:nvSpPr>
          <p:cNvPr id="20" name="Shape 14"/>
          <p:cNvSpPr/>
          <p:nvPr/>
        </p:nvSpPr>
        <p:spPr>
          <a:xfrm>
            <a:off x="457200" y="4160520"/>
            <a:ext cx="8229600" cy="777240"/>
          </a:xfrm>
          <a:prstGeom prst="rect">
            <a:avLst/>
          </a:prstGeom>
          <a:solidFill>
            <a:srgbClr val="1E293B"/>
          </a:solidFill>
          <a:ln/>
        </p:spPr>
      </p:sp>
      <p:pic>
        <p:nvPicPr>
          <p:cNvPr id="21" name="Image 4" descr="preencoded.png">    </p:cNvPr>
          <p:cNvPicPr>
            <a:picLocks noChangeAspect="1"/>
          </p:cNvPicPr>
          <p:nvPr/>
        </p:nvPicPr>
        <p:blipFill>
          <a:blip r:embed="rId5"/>
          <a:stretch>
            <a:fillRect/>
          </a:stretch>
        </p:blipFill>
        <p:spPr>
          <a:xfrm>
            <a:off x="594360" y="4389120"/>
            <a:ext cx="320040" cy="320040"/>
          </a:xfrm>
          <a:prstGeom prst="rect">
            <a:avLst/>
          </a:prstGeom>
        </p:spPr>
      </p:pic>
      <p:sp>
        <p:nvSpPr>
          <p:cNvPr id="22" name="Text 15"/>
          <p:cNvSpPr/>
          <p:nvPr/>
        </p:nvSpPr>
        <p:spPr>
          <a:xfrm>
            <a:off x="1051560" y="4233672"/>
            <a:ext cx="7498080" cy="27432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What about service mesh integration?</a:t>
            </a:r>
            <a:endParaRPr lang="en-US" sz="1300" dirty="0"/>
          </a:p>
        </p:txBody>
      </p:sp>
      <p:sp>
        <p:nvSpPr>
          <p:cNvPr id="23" name="Text 16"/>
          <p:cNvSpPr/>
          <p:nvPr/>
        </p:nvSpPr>
        <p:spPr>
          <a:xfrm>
            <a:off x="1051560" y="4526280"/>
            <a:ext cx="7498080" cy="365760"/>
          </a:xfrm>
          <a:prstGeom prst="rect">
            <a:avLst/>
          </a:prstGeom>
          <a:noFill/>
          <a:ln/>
        </p:spPr>
        <p:txBody>
          <a:bodyPr wrap="square" lIns="0" tIns="0" rIns="0" bIns="0" rtlCol="0" anchor="ctr"/>
          <a:lstStyle/>
          <a:p>
            <a:pPr indent="0" marL="0">
              <a:buNone/>
            </a:pPr>
            <a:r>
              <a:rPr lang="en-US" sz="1100" dirty="0">
                <a:solidFill>
                  <a:srgbClr val="F8FAFC"/>
                </a:solidFill>
                <a:latin typeface="Arial" pitchFamily="34" charset="0"/>
                <a:ea typeface="Arial" pitchFamily="34" charset="-122"/>
                <a:cs typeface="Arial" pitchFamily="34" charset="-120"/>
              </a:rPr>
              <a:t>Gateway API works alongside service meshes. Istio fully supports it. Use Gateway for north-south, mesh for east-west.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sp>
      <p:sp>
        <p:nvSpPr>
          <p:cNvPr id="3" name="Text 1"/>
          <p:cNvSpPr/>
          <p:nvPr/>
        </p:nvSpPr>
        <p:spPr>
          <a:xfrm>
            <a:off x="548640" y="274320"/>
            <a:ext cx="8229600" cy="548640"/>
          </a:xfrm>
          <a:prstGeom prst="rect">
            <a:avLst/>
          </a:prstGeom>
          <a:noFill/>
          <a:ln/>
        </p:spPr>
        <p:txBody>
          <a:bodyPr wrap="square" lIns="0" tIns="0" rIns="0" bIns="0" rtlCol="0" anchor="ctr"/>
          <a:lstStyle/>
          <a:p>
            <a:pPr indent="0" marL="0">
              <a:buNone/>
            </a:pPr>
            <a:r>
              <a:rPr lang="en-US" sz="3200" dirty="0">
                <a:solidFill>
                  <a:srgbClr val="1E293B"/>
                </a:solidFill>
                <a:latin typeface="Arial Black" pitchFamily="34" charset="0"/>
                <a:ea typeface="Arial Black" pitchFamily="34" charset="-122"/>
                <a:cs typeface="Arial Black" pitchFamily="34" charset="-120"/>
              </a:rPr>
              <a:t>Migration Considerations</a:t>
            </a:r>
            <a:endParaRPr lang="en-US" sz="3200" dirty="0"/>
          </a:p>
        </p:txBody>
      </p:sp>
      <p:sp>
        <p:nvSpPr>
          <p:cNvPr id="4" name="Shape 2"/>
          <p:cNvSpPr/>
          <p:nvPr/>
        </p:nvSpPr>
        <p:spPr>
          <a:xfrm>
            <a:off x="548640" y="960120"/>
            <a:ext cx="365760" cy="365760"/>
          </a:xfrm>
          <a:prstGeom prst="ellipse">
            <a:avLst/>
          </a:prstGeom>
          <a:solidFill>
            <a:srgbClr val="0EA5E9"/>
          </a:solidFill>
          <a:ln/>
        </p:spPr>
      </p:sp>
      <p:sp>
        <p:nvSpPr>
          <p:cNvPr id="5" name="Text 3"/>
          <p:cNvSpPr/>
          <p:nvPr/>
        </p:nvSpPr>
        <p:spPr>
          <a:xfrm>
            <a:off x="548640" y="987552"/>
            <a:ext cx="3657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051560" y="91440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Audit Current Ingresses</a:t>
            </a:r>
            <a:endParaRPr lang="en-US" sz="1400" dirty="0"/>
          </a:p>
        </p:txBody>
      </p:sp>
      <p:sp>
        <p:nvSpPr>
          <p:cNvPr id="7" name="Text 5"/>
          <p:cNvSpPr/>
          <p:nvPr/>
        </p:nvSpPr>
        <p:spPr>
          <a:xfrm>
            <a:off x="1051560" y="1188720"/>
            <a:ext cx="3200400" cy="32004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Identify all Ingress resources, annotations used, and dependencies</a:t>
            </a:r>
            <a:endParaRPr lang="en-US" sz="1100" dirty="0"/>
          </a:p>
        </p:txBody>
      </p:sp>
      <p:sp>
        <p:nvSpPr>
          <p:cNvPr id="8" name="Shape 6"/>
          <p:cNvSpPr/>
          <p:nvPr/>
        </p:nvSpPr>
        <p:spPr>
          <a:xfrm>
            <a:off x="548640" y="1618488"/>
            <a:ext cx="365760" cy="365760"/>
          </a:xfrm>
          <a:prstGeom prst="ellipse">
            <a:avLst/>
          </a:prstGeom>
          <a:solidFill>
            <a:srgbClr val="0EA5E9"/>
          </a:solidFill>
          <a:ln/>
        </p:spPr>
      </p:sp>
      <p:sp>
        <p:nvSpPr>
          <p:cNvPr id="9" name="Text 7"/>
          <p:cNvSpPr/>
          <p:nvPr/>
        </p:nvSpPr>
        <p:spPr>
          <a:xfrm>
            <a:off x="548640" y="1645920"/>
            <a:ext cx="3657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051560" y="1572768"/>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Choose Implementation</a:t>
            </a:r>
            <a:endParaRPr lang="en-US" sz="1400" dirty="0"/>
          </a:p>
        </p:txBody>
      </p:sp>
      <p:sp>
        <p:nvSpPr>
          <p:cNvPr id="11" name="Text 9"/>
          <p:cNvSpPr/>
          <p:nvPr/>
        </p:nvSpPr>
        <p:spPr>
          <a:xfrm>
            <a:off x="1051560" y="1847088"/>
            <a:ext cx="3200400" cy="32004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Select Gateway API implementation based on requirements and existing stack</a:t>
            </a:r>
            <a:endParaRPr lang="en-US" sz="1100" dirty="0"/>
          </a:p>
        </p:txBody>
      </p:sp>
      <p:sp>
        <p:nvSpPr>
          <p:cNvPr id="12" name="Shape 10"/>
          <p:cNvSpPr/>
          <p:nvPr/>
        </p:nvSpPr>
        <p:spPr>
          <a:xfrm>
            <a:off x="548640" y="2276856"/>
            <a:ext cx="365760" cy="365760"/>
          </a:xfrm>
          <a:prstGeom prst="ellipse">
            <a:avLst/>
          </a:prstGeom>
          <a:solidFill>
            <a:srgbClr val="0EA5E9"/>
          </a:solidFill>
          <a:ln/>
        </p:spPr>
      </p:sp>
      <p:sp>
        <p:nvSpPr>
          <p:cNvPr id="13" name="Text 11"/>
          <p:cNvSpPr/>
          <p:nvPr/>
        </p:nvSpPr>
        <p:spPr>
          <a:xfrm>
            <a:off x="548640" y="2304288"/>
            <a:ext cx="3657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1051560" y="2231136"/>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Parallel Deployment</a:t>
            </a:r>
            <a:endParaRPr lang="en-US" sz="1400" dirty="0"/>
          </a:p>
        </p:txBody>
      </p:sp>
      <p:sp>
        <p:nvSpPr>
          <p:cNvPr id="15" name="Text 13"/>
          <p:cNvSpPr/>
          <p:nvPr/>
        </p:nvSpPr>
        <p:spPr>
          <a:xfrm>
            <a:off x="1051560" y="2505456"/>
            <a:ext cx="3200400" cy="32004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Run Gateway API alongside Ingress - both can coexist</a:t>
            </a:r>
            <a:endParaRPr lang="en-US" sz="1100" dirty="0"/>
          </a:p>
        </p:txBody>
      </p:sp>
      <p:sp>
        <p:nvSpPr>
          <p:cNvPr id="16" name="Shape 14"/>
          <p:cNvSpPr/>
          <p:nvPr/>
        </p:nvSpPr>
        <p:spPr>
          <a:xfrm>
            <a:off x="548640" y="2935224"/>
            <a:ext cx="365760" cy="365760"/>
          </a:xfrm>
          <a:prstGeom prst="ellipse">
            <a:avLst/>
          </a:prstGeom>
          <a:solidFill>
            <a:srgbClr val="0EA5E9"/>
          </a:solidFill>
          <a:ln/>
        </p:spPr>
      </p:sp>
      <p:sp>
        <p:nvSpPr>
          <p:cNvPr id="17" name="Text 15"/>
          <p:cNvSpPr/>
          <p:nvPr/>
        </p:nvSpPr>
        <p:spPr>
          <a:xfrm>
            <a:off x="548640" y="2962656"/>
            <a:ext cx="3657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p:nvPr/>
        </p:nvSpPr>
        <p:spPr>
          <a:xfrm>
            <a:off x="1051560" y="2889504"/>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Convert Resources</a:t>
            </a:r>
            <a:endParaRPr lang="en-US" sz="1400" dirty="0"/>
          </a:p>
        </p:txBody>
      </p:sp>
      <p:sp>
        <p:nvSpPr>
          <p:cNvPr id="19" name="Text 17"/>
          <p:cNvSpPr/>
          <p:nvPr/>
        </p:nvSpPr>
        <p:spPr>
          <a:xfrm>
            <a:off x="1051560" y="3163824"/>
            <a:ext cx="3200400" cy="32004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Translate Ingress to Gateway + HTTPRoute (tools available)</a:t>
            </a:r>
            <a:endParaRPr lang="en-US" sz="1100" dirty="0"/>
          </a:p>
        </p:txBody>
      </p:sp>
      <p:sp>
        <p:nvSpPr>
          <p:cNvPr id="20" name="Shape 18"/>
          <p:cNvSpPr/>
          <p:nvPr/>
        </p:nvSpPr>
        <p:spPr>
          <a:xfrm>
            <a:off x="548640" y="3593592"/>
            <a:ext cx="365760" cy="365760"/>
          </a:xfrm>
          <a:prstGeom prst="ellipse">
            <a:avLst/>
          </a:prstGeom>
          <a:solidFill>
            <a:srgbClr val="0EA5E9"/>
          </a:solidFill>
          <a:ln/>
        </p:spPr>
      </p:sp>
      <p:sp>
        <p:nvSpPr>
          <p:cNvPr id="21" name="Text 19"/>
          <p:cNvSpPr/>
          <p:nvPr/>
        </p:nvSpPr>
        <p:spPr>
          <a:xfrm>
            <a:off x="548640" y="3621024"/>
            <a:ext cx="3657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p:nvPr/>
        </p:nvSpPr>
        <p:spPr>
          <a:xfrm>
            <a:off x="1051560" y="3547872"/>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Test &amp; Validate</a:t>
            </a:r>
            <a:endParaRPr lang="en-US" sz="1400" dirty="0"/>
          </a:p>
        </p:txBody>
      </p:sp>
      <p:sp>
        <p:nvSpPr>
          <p:cNvPr id="23" name="Text 21"/>
          <p:cNvSpPr/>
          <p:nvPr/>
        </p:nvSpPr>
        <p:spPr>
          <a:xfrm>
            <a:off x="1051560" y="3822192"/>
            <a:ext cx="3200400" cy="32004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Verify routing, TLS, and all advanced features work correctly</a:t>
            </a:r>
            <a:endParaRPr lang="en-US" sz="1100" dirty="0"/>
          </a:p>
        </p:txBody>
      </p:sp>
      <p:sp>
        <p:nvSpPr>
          <p:cNvPr id="24" name="Shape 22"/>
          <p:cNvSpPr/>
          <p:nvPr/>
        </p:nvSpPr>
        <p:spPr>
          <a:xfrm>
            <a:off x="548640" y="4251960"/>
            <a:ext cx="365760" cy="365760"/>
          </a:xfrm>
          <a:prstGeom prst="ellipse">
            <a:avLst/>
          </a:prstGeom>
          <a:solidFill>
            <a:srgbClr val="0EA5E9"/>
          </a:solidFill>
          <a:ln/>
        </p:spPr>
      </p:sp>
      <p:sp>
        <p:nvSpPr>
          <p:cNvPr id="25" name="Text 23"/>
          <p:cNvSpPr/>
          <p:nvPr/>
        </p:nvSpPr>
        <p:spPr>
          <a:xfrm>
            <a:off x="548640" y="4279392"/>
            <a:ext cx="3657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p:nvPr/>
        </p:nvSpPr>
        <p:spPr>
          <a:xfrm>
            <a:off x="1051560" y="420624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Gradual Traffic Shift</a:t>
            </a:r>
            <a:endParaRPr lang="en-US" sz="1400" dirty="0"/>
          </a:p>
        </p:txBody>
      </p:sp>
      <p:sp>
        <p:nvSpPr>
          <p:cNvPr id="27" name="Text 25"/>
          <p:cNvSpPr/>
          <p:nvPr/>
        </p:nvSpPr>
        <p:spPr>
          <a:xfrm>
            <a:off x="1051560" y="4480560"/>
            <a:ext cx="3200400" cy="32004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Move traffic incrementally using DNS or weighted routing</a:t>
            </a:r>
            <a:endParaRPr lang="en-US" sz="1100" dirty="0"/>
          </a:p>
        </p:txBody>
      </p:sp>
      <p:sp>
        <p:nvSpPr>
          <p:cNvPr id="28" name="Shape 26"/>
          <p:cNvSpPr/>
          <p:nvPr/>
        </p:nvSpPr>
        <p:spPr>
          <a:xfrm>
            <a:off x="4754880" y="914400"/>
            <a:ext cx="4114800" cy="3931920"/>
          </a:xfrm>
          <a:prstGeom prst="rect">
            <a:avLst/>
          </a:prstGeom>
          <a:solidFill>
            <a:srgbClr val="FFFFFF"/>
          </a:solidFill>
          <a:ln/>
        </p:spPr>
      </p:sp>
      <p:sp>
        <p:nvSpPr>
          <p:cNvPr id="29" name="Shape 27"/>
          <p:cNvSpPr/>
          <p:nvPr/>
        </p:nvSpPr>
        <p:spPr>
          <a:xfrm>
            <a:off x="4754880" y="914400"/>
            <a:ext cx="54864" cy="3931920"/>
          </a:xfrm>
          <a:prstGeom prst="rect">
            <a:avLst/>
          </a:prstGeom>
          <a:solidFill>
            <a:srgbClr val="F59E0B"/>
          </a:solidFill>
          <a:ln/>
        </p:spPr>
      </p:sp>
      <p:sp>
        <p:nvSpPr>
          <p:cNvPr id="30" name="Text 28"/>
          <p:cNvSpPr/>
          <p:nvPr/>
        </p:nvSpPr>
        <p:spPr>
          <a:xfrm>
            <a:off x="4937760" y="1051560"/>
            <a:ext cx="3749040" cy="32004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Migration Tips</a:t>
            </a:r>
            <a:endParaRPr lang="en-US" sz="1400" dirty="0"/>
          </a:p>
        </p:txBody>
      </p:sp>
      <p:sp>
        <p:nvSpPr>
          <p:cNvPr id="31" name="Text 29"/>
          <p:cNvSpPr/>
          <p:nvPr/>
        </p:nvSpPr>
        <p:spPr>
          <a:xfrm>
            <a:off x="4937760" y="1463040"/>
            <a:ext cx="37490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Start with non-critical services</a:t>
            </a:r>
            <a:endParaRPr lang="en-US" sz="1100" dirty="0"/>
          </a:p>
        </p:txBody>
      </p:sp>
      <p:sp>
        <p:nvSpPr>
          <p:cNvPr id="32" name="Text 30"/>
          <p:cNvSpPr/>
          <p:nvPr/>
        </p:nvSpPr>
        <p:spPr>
          <a:xfrm>
            <a:off x="4937760" y="1810512"/>
            <a:ext cx="37490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Use ingress2gateway tool for conversion</a:t>
            </a:r>
            <a:endParaRPr lang="en-US" sz="1100" dirty="0"/>
          </a:p>
        </p:txBody>
      </p:sp>
      <p:sp>
        <p:nvSpPr>
          <p:cNvPr id="33" name="Text 31"/>
          <p:cNvSpPr/>
          <p:nvPr/>
        </p:nvSpPr>
        <p:spPr>
          <a:xfrm>
            <a:off x="4937760" y="2157984"/>
            <a:ext cx="37490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Test TLS certificates carefully</a:t>
            </a:r>
            <a:endParaRPr lang="en-US" sz="1100" dirty="0"/>
          </a:p>
        </p:txBody>
      </p:sp>
      <p:sp>
        <p:nvSpPr>
          <p:cNvPr id="34" name="Text 32"/>
          <p:cNvSpPr/>
          <p:nvPr/>
        </p:nvSpPr>
        <p:spPr>
          <a:xfrm>
            <a:off x="4937760" y="2505456"/>
            <a:ext cx="37490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Monitor error rates during switch</a:t>
            </a:r>
            <a:endParaRPr lang="en-US" sz="1100" dirty="0"/>
          </a:p>
        </p:txBody>
      </p:sp>
      <p:sp>
        <p:nvSpPr>
          <p:cNvPr id="35" name="Text 33"/>
          <p:cNvSpPr/>
          <p:nvPr/>
        </p:nvSpPr>
        <p:spPr>
          <a:xfrm>
            <a:off x="4937760" y="2852928"/>
            <a:ext cx="37490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Keep rollback plan ready</a:t>
            </a:r>
            <a:endParaRPr lang="en-US" sz="1100" dirty="0"/>
          </a:p>
        </p:txBody>
      </p:sp>
      <p:sp>
        <p:nvSpPr>
          <p:cNvPr id="36" name="Text 34"/>
          <p:cNvSpPr/>
          <p:nvPr/>
        </p:nvSpPr>
        <p:spPr>
          <a:xfrm>
            <a:off x="4937760" y="3200400"/>
            <a:ext cx="37490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Document annotation mappings</a:t>
            </a:r>
            <a:endParaRPr lang="en-US" sz="1100" dirty="0"/>
          </a:p>
        </p:txBody>
      </p:sp>
      <p:sp>
        <p:nvSpPr>
          <p:cNvPr id="37" name="Text 35"/>
          <p:cNvSpPr/>
          <p:nvPr/>
        </p:nvSpPr>
        <p:spPr>
          <a:xfrm>
            <a:off x="4937760" y="3547872"/>
            <a:ext cx="3749040" cy="32004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 Train team on new resources</a:t>
            </a:r>
            <a:endParaRPr lang="en-US" sz="1100" dirty="0"/>
          </a:p>
        </p:txBody>
      </p:sp>
      <p:sp>
        <p:nvSpPr>
          <p:cNvPr id="38" name="Shape 36"/>
          <p:cNvSpPr/>
          <p:nvPr/>
        </p:nvSpPr>
        <p:spPr>
          <a:xfrm>
            <a:off x="4937760" y="4160520"/>
            <a:ext cx="3749040" cy="548640"/>
          </a:xfrm>
          <a:prstGeom prst="rect">
            <a:avLst/>
          </a:prstGeom>
          <a:solidFill>
            <a:srgbClr val="EEF2FF"/>
          </a:solidFill>
          <a:ln/>
        </p:spPr>
      </p:sp>
      <p:sp>
        <p:nvSpPr>
          <p:cNvPr id="39" name="Text 37"/>
          <p:cNvSpPr/>
          <p:nvPr/>
        </p:nvSpPr>
        <p:spPr>
          <a:xfrm>
            <a:off x="5029200" y="4206240"/>
            <a:ext cx="3566160" cy="457200"/>
          </a:xfrm>
          <a:prstGeom prst="rect">
            <a:avLst/>
          </a:prstGeom>
          <a:noFill/>
          <a:ln/>
        </p:spPr>
        <p:txBody>
          <a:bodyPr wrap="square" lIns="0" tIns="0" rIns="0" bIns="0" rtlCol="0" anchor="ctr"/>
          <a:lstStyle/>
          <a:p>
            <a:pPr indent="0" marL="0">
              <a:buNone/>
            </a:pPr>
            <a:r>
              <a:rPr lang="en-US" sz="900" dirty="0">
                <a:solidFill>
                  <a:srgbClr val="0EA5E9"/>
                </a:solidFill>
                <a:latin typeface="Consolas" pitchFamily="34" charset="0"/>
                <a:ea typeface="Consolas" pitchFamily="34" charset="-122"/>
                <a:cs typeface="Consolas" pitchFamily="34" charset="-120"/>
              </a:rPr>
              <a:t>🔧 gateway-api.sigs.k8s.io/guides/migrating-from-ingress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Key Takeaways</a:t>
            </a:r>
            <a:endParaRPr lang="en-US" sz="3200" dirty="0"/>
          </a:p>
        </p:txBody>
      </p:sp>
      <p:pic>
        <p:nvPicPr>
          <p:cNvPr id="4" name="Image 0" descr="preencoded.png">    </p:cNvPr>
          <p:cNvPicPr>
            <a:picLocks noChangeAspect="1"/>
          </p:cNvPicPr>
          <p:nvPr/>
        </p:nvPicPr>
        <p:blipFill>
          <a:blip r:embed="rId1"/>
          <a:stretch>
            <a:fillRect/>
          </a:stretch>
        </p:blipFill>
        <p:spPr>
          <a:xfrm>
            <a:off x="548640" y="960120"/>
            <a:ext cx="320040" cy="320040"/>
          </a:xfrm>
          <a:prstGeom prst="rect">
            <a:avLst/>
          </a:prstGeom>
        </p:spPr>
      </p:pic>
      <p:sp>
        <p:nvSpPr>
          <p:cNvPr id="5" name="Text 2"/>
          <p:cNvSpPr/>
          <p:nvPr/>
        </p:nvSpPr>
        <p:spPr>
          <a:xfrm>
            <a:off x="1005840" y="914400"/>
            <a:ext cx="7680960" cy="41148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Gateway API is the official successor to Ingress - start planning migration</a:t>
            </a:r>
            <a:endParaRPr lang="en-US" sz="1600" dirty="0"/>
          </a:p>
        </p:txBody>
      </p:sp>
      <p:pic>
        <p:nvPicPr>
          <p:cNvPr id="6" name="Image 1" descr="preencoded.png">    </p:cNvPr>
          <p:cNvPicPr>
            <a:picLocks noChangeAspect="1"/>
          </p:cNvPicPr>
          <p:nvPr/>
        </p:nvPicPr>
        <p:blipFill>
          <a:blip r:embed="rId2"/>
          <a:stretch>
            <a:fillRect/>
          </a:stretch>
        </p:blipFill>
        <p:spPr>
          <a:xfrm>
            <a:off x="548640" y="1508760"/>
            <a:ext cx="320040" cy="320040"/>
          </a:xfrm>
          <a:prstGeom prst="rect">
            <a:avLst/>
          </a:prstGeom>
        </p:spPr>
      </p:pic>
      <p:sp>
        <p:nvSpPr>
          <p:cNvPr id="7" name="Text 3"/>
          <p:cNvSpPr/>
          <p:nvPr/>
        </p:nvSpPr>
        <p:spPr>
          <a:xfrm>
            <a:off x="1005840" y="1463040"/>
            <a:ext cx="7680960" cy="41148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Role-based design prevents conflicts in multi-tenant environments</a:t>
            </a:r>
            <a:endParaRPr lang="en-US" sz="1600" dirty="0"/>
          </a:p>
        </p:txBody>
      </p:sp>
      <p:pic>
        <p:nvPicPr>
          <p:cNvPr id="8" name="Image 2" descr="preencoded.png">    </p:cNvPr>
          <p:cNvPicPr>
            <a:picLocks noChangeAspect="1"/>
          </p:cNvPicPr>
          <p:nvPr/>
        </p:nvPicPr>
        <p:blipFill>
          <a:blip r:embed="rId3"/>
          <a:stretch>
            <a:fillRect/>
          </a:stretch>
        </p:blipFill>
        <p:spPr>
          <a:xfrm>
            <a:off x="548640" y="2057400"/>
            <a:ext cx="320040" cy="320040"/>
          </a:xfrm>
          <a:prstGeom prst="rect">
            <a:avLst/>
          </a:prstGeom>
        </p:spPr>
      </p:pic>
      <p:sp>
        <p:nvSpPr>
          <p:cNvPr id="9" name="Text 4"/>
          <p:cNvSpPr/>
          <p:nvPr/>
        </p:nvSpPr>
        <p:spPr>
          <a:xfrm>
            <a:off x="1005840" y="2011680"/>
            <a:ext cx="7680960" cy="41148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Advanced features are built-in, not via annotations</a:t>
            </a:r>
            <a:endParaRPr lang="en-US" sz="1600" dirty="0"/>
          </a:p>
        </p:txBody>
      </p:sp>
      <p:pic>
        <p:nvPicPr>
          <p:cNvPr id="10" name="Image 3" descr="preencoded.png">    </p:cNvPr>
          <p:cNvPicPr>
            <a:picLocks noChangeAspect="1"/>
          </p:cNvPicPr>
          <p:nvPr/>
        </p:nvPicPr>
        <p:blipFill>
          <a:blip r:embed="rId4"/>
          <a:stretch>
            <a:fillRect/>
          </a:stretch>
        </p:blipFill>
        <p:spPr>
          <a:xfrm>
            <a:off x="548640" y="2606040"/>
            <a:ext cx="320040" cy="320040"/>
          </a:xfrm>
          <a:prstGeom prst="rect">
            <a:avLst/>
          </a:prstGeom>
        </p:spPr>
      </p:pic>
      <p:sp>
        <p:nvSpPr>
          <p:cNvPr id="11" name="Text 5"/>
          <p:cNvSpPr/>
          <p:nvPr/>
        </p:nvSpPr>
        <p:spPr>
          <a:xfrm>
            <a:off x="1005840" y="2560320"/>
            <a:ext cx="7680960" cy="41148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Portable across implementations - avoid vendor lock-in</a:t>
            </a:r>
            <a:endParaRPr lang="en-US" sz="1600" dirty="0"/>
          </a:p>
        </p:txBody>
      </p:sp>
      <p:pic>
        <p:nvPicPr>
          <p:cNvPr id="12" name="Image 4" descr="preencoded.png">    </p:cNvPr>
          <p:cNvPicPr>
            <a:picLocks noChangeAspect="1"/>
          </p:cNvPicPr>
          <p:nvPr/>
        </p:nvPicPr>
        <p:blipFill>
          <a:blip r:embed="rId5"/>
          <a:stretch>
            <a:fillRect/>
          </a:stretch>
        </p:blipFill>
        <p:spPr>
          <a:xfrm>
            <a:off x="548640" y="3154680"/>
            <a:ext cx="320040" cy="320040"/>
          </a:xfrm>
          <a:prstGeom prst="rect">
            <a:avLst/>
          </a:prstGeom>
        </p:spPr>
      </p:pic>
      <p:sp>
        <p:nvSpPr>
          <p:cNvPr id="13" name="Text 6"/>
          <p:cNvSpPr/>
          <p:nvPr/>
        </p:nvSpPr>
        <p:spPr>
          <a:xfrm>
            <a:off x="1005840" y="3108960"/>
            <a:ext cx="7680960" cy="41148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Production-ready (GA v1.4.0) with active development</a:t>
            </a:r>
            <a:endParaRPr lang="en-US" sz="1600" dirty="0"/>
          </a:p>
        </p:txBody>
      </p:sp>
      <p:pic>
        <p:nvPicPr>
          <p:cNvPr id="14" name="Image 5" descr="preencoded.png">    </p:cNvPr>
          <p:cNvPicPr>
            <a:picLocks noChangeAspect="1"/>
          </p:cNvPicPr>
          <p:nvPr/>
        </p:nvPicPr>
        <p:blipFill>
          <a:blip r:embed="rId6"/>
          <a:stretch>
            <a:fillRect/>
          </a:stretch>
        </p:blipFill>
        <p:spPr>
          <a:xfrm>
            <a:off x="548640" y="3703320"/>
            <a:ext cx="320040" cy="320040"/>
          </a:xfrm>
          <a:prstGeom prst="rect">
            <a:avLst/>
          </a:prstGeom>
        </p:spPr>
      </p:pic>
      <p:sp>
        <p:nvSpPr>
          <p:cNvPr id="15" name="Text 7"/>
          <p:cNvSpPr/>
          <p:nvPr/>
        </p:nvSpPr>
        <p:spPr>
          <a:xfrm>
            <a:off x="1005840" y="3657600"/>
            <a:ext cx="7680960" cy="411480"/>
          </a:xfrm>
          <a:prstGeom prst="rect">
            <a:avLst/>
          </a:prstGeom>
          <a:noFill/>
          <a:ln/>
        </p:spPr>
        <p:txBody>
          <a:bodyPr wrap="square" lIns="0" tIns="0" rIns="0" bIns="0" rtlCol="0" anchor="ctr"/>
          <a:lstStyle/>
          <a:p>
            <a:pPr indent="0" marL="0">
              <a:buNone/>
            </a:pPr>
            <a:r>
              <a:rPr lang="en-US" sz="1600" dirty="0">
                <a:solidFill>
                  <a:srgbClr val="F8FAFC"/>
                </a:solidFill>
                <a:latin typeface="Arial" pitchFamily="34" charset="0"/>
                <a:ea typeface="Arial" pitchFamily="34" charset="-122"/>
                <a:cs typeface="Arial" pitchFamily="34" charset="-120"/>
              </a:rPr>
              <a:t>Cloud providers offer managed options with native LB integration</a:t>
            </a:r>
            <a:endParaRPr lang="en-US" sz="1600" dirty="0"/>
          </a:p>
        </p:txBody>
      </p:sp>
      <p:sp>
        <p:nvSpPr>
          <p:cNvPr id="16" name="Shape 8"/>
          <p:cNvSpPr/>
          <p:nvPr/>
        </p:nvSpPr>
        <p:spPr>
          <a:xfrm>
            <a:off x="457200" y="4297680"/>
            <a:ext cx="8229600" cy="731520"/>
          </a:xfrm>
          <a:prstGeom prst="rect">
            <a:avLst/>
          </a:prstGeom>
          <a:solidFill>
            <a:srgbClr val="1E293B"/>
          </a:solidFill>
          <a:ln/>
        </p:spPr>
      </p:sp>
      <p:sp>
        <p:nvSpPr>
          <p:cNvPr id="17" name="Text 9"/>
          <p:cNvSpPr/>
          <p:nvPr/>
        </p:nvSpPr>
        <p:spPr>
          <a:xfrm>
            <a:off x="640080" y="4434840"/>
            <a:ext cx="7863840" cy="457200"/>
          </a:xfrm>
          <a:prstGeom prst="rect">
            <a:avLst/>
          </a:prstGeom>
          <a:noFill/>
          <a:ln/>
        </p:spPr>
        <p:txBody>
          <a:bodyPr wrap="square" lIns="0" tIns="0" rIns="0" bIns="0" rtlCol="0" anchor="ctr"/>
          <a:lstStyle/>
          <a:p>
            <a:pPr indent="0" marL="0">
              <a:buNone/>
            </a:pPr>
            <a:r>
              <a:rPr lang="en-US" sz="1400" dirty="0">
                <a:solidFill>
                  <a:srgbClr val="38BDF8"/>
                </a:solidFill>
                <a:latin typeface="Arial" pitchFamily="34" charset="0"/>
                <a:ea typeface="Arial" pitchFamily="34" charset="-122"/>
                <a:cs typeface="Arial" pitchFamily="34" charset="-120"/>
              </a:rPr>
              <a:t>Next Steps: Evaluate your current Ingress setup → Choose an implementation → Start with new services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pic>
        <p:nvPicPr>
          <p:cNvPr id="3" name="Image 0" descr="preencoded.png">    </p:cNvPr>
          <p:cNvPicPr>
            <a:picLocks noChangeAspect="1"/>
          </p:cNvPicPr>
          <p:nvPr/>
        </p:nvPicPr>
        <p:blipFill>
          <a:blip r:embed="rId1"/>
          <a:stretch>
            <a:fillRect/>
          </a:stretch>
        </p:blipFill>
        <p:spPr>
          <a:xfrm>
            <a:off x="3886200" y="1097280"/>
            <a:ext cx="1371600" cy="1371600"/>
          </a:xfrm>
          <a:prstGeom prst="rect">
            <a:avLst/>
          </a:prstGeom>
        </p:spPr>
      </p:pic>
      <p:sp>
        <p:nvSpPr>
          <p:cNvPr id="4" name="Text 1"/>
          <p:cNvSpPr/>
          <p:nvPr/>
        </p:nvSpPr>
        <p:spPr>
          <a:xfrm>
            <a:off x="457200" y="2560320"/>
            <a:ext cx="8229600" cy="731520"/>
          </a:xfrm>
          <a:prstGeom prst="rect">
            <a:avLst/>
          </a:prstGeom>
          <a:noFill/>
          <a:ln/>
        </p:spPr>
        <p:txBody>
          <a:bodyPr wrap="square" lIns="0" tIns="0" rIns="0" bIns="0" rtlCol="0" anchor="ctr"/>
          <a:lstStyle/>
          <a:p>
            <a:pPr algn="ctr" indent="0" marL="0">
              <a:buNone/>
            </a:pPr>
            <a:r>
              <a:rPr lang="en-US" sz="4400" dirty="0">
                <a:solidFill>
                  <a:srgbClr val="F8FAFC"/>
                </a:solidFill>
                <a:latin typeface="Arial Black" pitchFamily="34" charset="0"/>
                <a:ea typeface="Arial Black" pitchFamily="34" charset="-122"/>
                <a:cs typeface="Arial Black" pitchFamily="34" charset="-120"/>
              </a:rPr>
              <a:t>Questions?</a:t>
            </a:r>
            <a:endParaRPr lang="en-US" sz="4400" dirty="0"/>
          </a:p>
        </p:txBody>
      </p:sp>
      <p:sp>
        <p:nvSpPr>
          <p:cNvPr id="5" name="Text 2"/>
          <p:cNvSpPr/>
          <p:nvPr/>
        </p:nvSpPr>
        <p:spPr>
          <a:xfrm>
            <a:off x="457200" y="3291840"/>
            <a:ext cx="8229600" cy="365760"/>
          </a:xfrm>
          <a:prstGeom prst="rect">
            <a:avLst/>
          </a:prstGeom>
          <a:noFill/>
          <a:ln/>
        </p:spPr>
        <p:txBody>
          <a:bodyPr wrap="square" lIns="0" tIns="0" rIns="0" bIns="0"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10 minutes for Q&amp;A</a:t>
            </a:r>
            <a:endParaRPr lang="en-US" sz="1800" dirty="0"/>
          </a:p>
        </p:txBody>
      </p:sp>
      <p:sp>
        <p:nvSpPr>
          <p:cNvPr id="6" name="Text 3"/>
          <p:cNvSpPr/>
          <p:nvPr/>
        </p:nvSpPr>
        <p:spPr>
          <a:xfrm>
            <a:off x="457200" y="3931920"/>
            <a:ext cx="8229600" cy="320040"/>
          </a:xfrm>
          <a:prstGeom prst="rect">
            <a:avLst/>
          </a:prstGeom>
          <a:noFill/>
          <a:ln/>
        </p:spPr>
        <p:txBody>
          <a:bodyPr wrap="square" lIns="0" tIns="0" rIns="0" bIns="0" rtlCol="0" anchor="ctr"/>
          <a:lstStyle/>
          <a:p>
            <a:pPr algn="ctr" indent="0" marL="0">
              <a:buNone/>
            </a:pPr>
            <a:r>
              <a:rPr lang="en-US" sz="1400" b="1" dirty="0">
                <a:solidFill>
                  <a:srgbClr val="38BDF8"/>
                </a:solidFill>
                <a:latin typeface="Arial" pitchFamily="34" charset="0"/>
                <a:ea typeface="Arial" pitchFamily="34" charset="-122"/>
                <a:cs typeface="Arial" pitchFamily="34" charset="-120"/>
              </a:rPr>
              <a:t>Resources</a:t>
            </a:r>
            <a:endParaRPr lang="en-US" sz="1400" dirty="0"/>
          </a:p>
        </p:txBody>
      </p:sp>
      <p:sp>
        <p:nvSpPr>
          <p:cNvPr id="7" name="Text 4"/>
          <p:cNvSpPr/>
          <p:nvPr/>
        </p:nvSpPr>
        <p:spPr>
          <a:xfrm>
            <a:off x="457200" y="4297680"/>
            <a:ext cx="8229600" cy="228600"/>
          </a:xfrm>
          <a:prstGeom prst="rect">
            <a:avLst/>
          </a:prstGeom>
          <a:noFill/>
          <a:ln/>
        </p:spPr>
        <p:txBody>
          <a:bodyPr wrap="square" lIns="0" tIns="0" rIns="0" bIns="0" rtlCol="0" anchor="ctr"/>
          <a:lstStyle/>
          <a:p>
            <a:pPr algn="ctr" indent="0" marL="0">
              <a:buNone/>
            </a:pPr>
            <a:r>
              <a:rPr lang="en-US" sz="1200" dirty="0">
                <a:solidFill>
                  <a:srgbClr val="94A3B8"/>
                </a:solidFill>
                <a:latin typeface="Consolas" pitchFamily="34" charset="0"/>
                <a:ea typeface="Consolas" pitchFamily="34" charset="-122"/>
                <a:cs typeface="Consolas" pitchFamily="34" charset="-120"/>
              </a:rPr>
              <a:t>gateway-api.sigs.k8s.io</a:t>
            </a:r>
            <a:endParaRPr lang="en-US" sz="1200" dirty="0"/>
          </a:p>
        </p:txBody>
      </p:sp>
      <p:sp>
        <p:nvSpPr>
          <p:cNvPr id="8" name="Text 5"/>
          <p:cNvSpPr/>
          <p:nvPr/>
        </p:nvSpPr>
        <p:spPr>
          <a:xfrm>
            <a:off x="457200" y="4553712"/>
            <a:ext cx="8229600" cy="228600"/>
          </a:xfrm>
          <a:prstGeom prst="rect">
            <a:avLst/>
          </a:prstGeom>
          <a:noFill/>
          <a:ln/>
        </p:spPr>
        <p:txBody>
          <a:bodyPr wrap="square" lIns="0" tIns="0" rIns="0" bIns="0" rtlCol="0" anchor="ctr"/>
          <a:lstStyle/>
          <a:p>
            <a:pPr algn="ctr" indent="0" marL="0">
              <a:buNone/>
            </a:pPr>
            <a:r>
              <a:rPr lang="en-US" sz="1200" dirty="0">
                <a:solidFill>
                  <a:srgbClr val="94A3B8"/>
                </a:solidFill>
                <a:latin typeface="Consolas" pitchFamily="34" charset="0"/>
                <a:ea typeface="Consolas" pitchFamily="34" charset="-122"/>
                <a:cs typeface="Consolas" pitchFamily="34" charset="-120"/>
              </a:rPr>
              <a:t>kubernetes.io/docs/concepts/services-networking/gateway</a:t>
            </a:r>
            <a:endParaRPr lang="en-US" sz="1200" dirty="0"/>
          </a:p>
        </p:txBody>
      </p:sp>
      <p:sp>
        <p:nvSpPr>
          <p:cNvPr id="9" name="Text 6"/>
          <p:cNvSpPr/>
          <p:nvPr/>
        </p:nvSpPr>
        <p:spPr>
          <a:xfrm>
            <a:off x="457200" y="4809744"/>
            <a:ext cx="8229600" cy="228600"/>
          </a:xfrm>
          <a:prstGeom prst="rect">
            <a:avLst/>
          </a:prstGeom>
          <a:noFill/>
          <a:ln/>
        </p:spPr>
        <p:txBody>
          <a:bodyPr wrap="square" lIns="0" tIns="0" rIns="0" bIns="0" rtlCol="0" anchor="ctr"/>
          <a:lstStyle/>
          <a:p>
            <a:pPr algn="ctr" indent="0" marL="0">
              <a:buNone/>
            </a:pPr>
            <a:r>
              <a:rPr lang="en-US" sz="1200" dirty="0">
                <a:solidFill>
                  <a:srgbClr val="94A3B8"/>
                </a:solidFill>
                <a:latin typeface="Consolas" pitchFamily="34" charset="0"/>
                <a:ea typeface="Consolas" pitchFamily="34" charset="-122"/>
                <a:cs typeface="Consolas" pitchFamily="34" charset="-120"/>
              </a:rPr>
              <a:t>github.com/kubernetes-sigs/gateway-api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Gateway API</dc:title>
  <dc:subject>Deep Dive into Gateway API</dc:subject>
  <dc:creator>Philippe Bogaerts</dc:creator>
  <cp:lastModifiedBy>Philippe Bogaerts</cp:lastModifiedBy>
  <cp:revision>1</cp:revision>
  <dcterms:created xsi:type="dcterms:W3CDTF">2026-01-28T13:38:08Z</dcterms:created>
  <dcterms:modified xsi:type="dcterms:W3CDTF">2026-01-28T13:38:08Z</dcterms:modified>
</cp:coreProperties>
</file>